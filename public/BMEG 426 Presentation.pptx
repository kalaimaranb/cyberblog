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Play"/>
      <p:regular r:id="rId26"/>
      <p:bold r:id="rId27"/>
    </p:embeddedFont>
    <p:embeddedFont>
      <p:font typeface="Roboto"/>
      <p:regular r:id="rId28"/>
      <p:bold r:id="rId29"/>
      <p:italic r:id="rId30"/>
      <p:boldItalic r:id="rId31"/>
    </p:embeddedFont>
    <p:embeddedFont>
      <p:font typeface="Roboto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6">
          <p15:clr>
            <a:srgbClr val="A4A3A4"/>
          </p15:clr>
        </p15:guide>
        <p15:guide id="2" pos="370">
          <p15:clr>
            <a:srgbClr val="A4A3A4"/>
          </p15:clr>
        </p15:guide>
        <p15:guide id="3" orient="horz" pos="3974">
          <p15:clr>
            <a:srgbClr val="A4A3A4"/>
          </p15:clr>
        </p15:guide>
        <p15:guide id="4" pos="7310">
          <p15:clr>
            <a:srgbClr val="A4A3A4"/>
          </p15:clr>
        </p15:guide>
      </p15:sldGuideLst>
    </p:ext>
    <p:ext uri="GoogleSlidesCustomDataVersion2">
      <go:slidesCustomData xmlns:go="http://customooxmlschemas.google.com/" r:id="rId36" roundtripDataSignature="AMtx7mj6O9QQEf2QtRpXFK3oDo9bltVj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6" orient="horz"/>
        <p:guide pos="370"/>
        <p:guide pos="3974" orient="horz"/>
        <p:guide pos="731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RobotoMedium-bold.fntdata"/><Relationship Id="rId10" Type="http://schemas.openxmlformats.org/officeDocument/2006/relationships/slide" Target="slides/slide5.xml"/><Relationship Id="rId32" Type="http://schemas.openxmlformats.org/officeDocument/2006/relationships/font" Target="fonts/RobotoMedium-regular.fntdata"/><Relationship Id="rId13" Type="http://schemas.openxmlformats.org/officeDocument/2006/relationships/slide" Target="slides/slide8.xml"/><Relationship Id="rId35" Type="http://schemas.openxmlformats.org/officeDocument/2006/relationships/font" Target="fonts/RobotoMedium-boldItalic.fntdata"/><Relationship Id="rId12" Type="http://schemas.openxmlformats.org/officeDocument/2006/relationships/slide" Target="slides/slide7.xml"/><Relationship Id="rId34" Type="http://schemas.openxmlformats.org/officeDocument/2006/relationships/font" Target="fonts/RobotoMedium-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Hi, my name is Kalaimaran Balasothy and this is my final presentation for BMEG 426 where I will explain the scientific story we covered in this course as well as the fundamental biological concepts behind it. </a:t>
            </a:r>
            <a:endParaRPr>
              <a:latin typeface="Roboto"/>
              <a:ea typeface="Roboto"/>
              <a:cs typeface="Roboto"/>
              <a:sym typeface="Roboto"/>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I’ll start by going over an overview. I’ll explain the key biological principles for this course, followed by my hypothesis &amp; </a:t>
            </a:r>
            <a:r>
              <a:rPr lang="en-US">
                <a:latin typeface="Roboto"/>
                <a:ea typeface="Roboto"/>
                <a:cs typeface="Roboto"/>
                <a:sym typeface="Roboto"/>
              </a:rPr>
              <a:t>methodology</a:t>
            </a:r>
            <a:r>
              <a:rPr lang="en-US">
                <a:latin typeface="Roboto"/>
                <a:ea typeface="Roboto"/>
                <a:cs typeface="Roboto"/>
                <a:sym typeface="Roboto"/>
              </a:rPr>
              <a:t>. Finally I’ll discuss my results and conclusion. </a:t>
            </a:r>
            <a:endParaRPr>
              <a:latin typeface="Roboto"/>
              <a:ea typeface="Roboto"/>
              <a:cs typeface="Roboto"/>
              <a:sym typeface="Roboto"/>
            </a:endParaRPr>
          </a:p>
        </p:txBody>
      </p:sp>
      <p:sp>
        <p:nvSpPr>
          <p:cNvPr id="101" name="Google Shape;10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This course is built around the principle that cells are just fancy little computers that we’re slowly learning how to program. As engineers, our goal is to produce </a:t>
            </a:r>
            <a:r>
              <a:rPr lang="en-US">
                <a:latin typeface="Roboto"/>
                <a:ea typeface="Roboto"/>
                <a:cs typeface="Roboto"/>
                <a:sym typeface="Roboto"/>
              </a:rPr>
              <a:t>genetic</a:t>
            </a:r>
            <a:r>
              <a:rPr lang="en-US">
                <a:latin typeface="Roboto"/>
                <a:ea typeface="Roboto"/>
                <a:cs typeface="Roboto"/>
                <a:sym typeface="Roboto"/>
              </a:rPr>
              <a:t> devices that can utilize the central dogma and respond in a predictable and </a:t>
            </a:r>
            <a:r>
              <a:rPr lang="en-US">
                <a:latin typeface="Roboto"/>
                <a:ea typeface="Roboto"/>
                <a:cs typeface="Roboto"/>
                <a:sym typeface="Roboto"/>
              </a:rPr>
              <a:t>controllable</a:t>
            </a:r>
            <a:r>
              <a:rPr lang="en-US">
                <a:latin typeface="Roboto"/>
                <a:ea typeface="Roboto"/>
                <a:cs typeface="Roboto"/>
                <a:sym typeface="Roboto"/>
              </a:rPr>
              <a:t> </a:t>
            </a:r>
            <a:r>
              <a:rPr lang="en-US">
                <a:latin typeface="Roboto"/>
                <a:ea typeface="Roboto"/>
                <a:cs typeface="Roboto"/>
                <a:sym typeface="Roboto"/>
              </a:rPr>
              <a:t>fashion</a:t>
            </a:r>
            <a:r>
              <a:rPr lang="en-US">
                <a:latin typeface="Roboto"/>
                <a:ea typeface="Roboto"/>
                <a:cs typeface="Roboto"/>
                <a:sym typeface="Roboto"/>
              </a:rPr>
              <a:t>. We’ll </a:t>
            </a:r>
            <a:r>
              <a:rPr lang="en-US">
                <a:latin typeface="Roboto"/>
                <a:ea typeface="Roboto"/>
                <a:cs typeface="Roboto"/>
                <a:sym typeface="Roboto"/>
              </a:rPr>
              <a:t>understand</a:t>
            </a:r>
            <a:r>
              <a:rPr lang="en-US">
                <a:latin typeface="Roboto"/>
                <a:ea typeface="Roboto"/>
                <a:cs typeface="Roboto"/>
                <a:sym typeface="Roboto"/>
              </a:rPr>
              <a:t> the success of our work by injecting our devices into mammalian cells. </a:t>
            </a:r>
            <a:endParaRPr>
              <a:latin typeface="Roboto"/>
              <a:ea typeface="Roboto"/>
              <a:cs typeface="Roboto"/>
              <a:sym typeface="Roboto"/>
            </a:endParaRPr>
          </a:p>
        </p:txBody>
      </p:sp>
      <p:sp>
        <p:nvSpPr>
          <p:cNvPr id="117" name="Google Shape;11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The core biological principle for our project was this. We would design a plasmid (promoter in green and protein encoding gene in red) which when transcripted will produce an mRNA that encodes for a protein. The quaternary structure will include the </a:t>
            </a:r>
            <a:r>
              <a:rPr lang="en-US">
                <a:latin typeface="Roboto"/>
                <a:ea typeface="Roboto"/>
                <a:cs typeface="Roboto"/>
                <a:sym typeface="Roboto"/>
              </a:rPr>
              <a:t>fluorophore</a:t>
            </a:r>
            <a:r>
              <a:rPr lang="en-US">
                <a:latin typeface="Roboto"/>
                <a:ea typeface="Roboto"/>
                <a:cs typeface="Roboto"/>
                <a:sym typeface="Roboto"/>
              </a:rPr>
              <a:t> and a tag, allowing us to colour in a specific subcellular region. </a:t>
            </a:r>
            <a:endParaRPr>
              <a:latin typeface="Roboto"/>
              <a:ea typeface="Roboto"/>
              <a:cs typeface="Roboto"/>
              <a:sym typeface="Roboto"/>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535d31bb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8535d31bb4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The objective of our experiments is to see if we can change the constitutively active promoter to lead to an </a:t>
            </a:r>
            <a:r>
              <a:rPr lang="en-US">
                <a:latin typeface="Roboto"/>
                <a:ea typeface="Roboto"/>
                <a:cs typeface="Roboto"/>
                <a:sym typeface="Roboto"/>
              </a:rPr>
              <a:t>expression</a:t>
            </a:r>
            <a:r>
              <a:rPr lang="en-US">
                <a:latin typeface="Roboto"/>
                <a:ea typeface="Roboto"/>
                <a:cs typeface="Roboto"/>
                <a:sym typeface="Roboto"/>
              </a:rPr>
              <a:t> change (such as an increasing protein production for stronger expression) </a:t>
            </a:r>
            <a:endParaRPr>
              <a:latin typeface="Roboto"/>
              <a:ea typeface="Roboto"/>
              <a:cs typeface="Roboto"/>
              <a:sym typeface="Roboto"/>
            </a:endParaRPr>
          </a:p>
        </p:txBody>
      </p:sp>
      <p:sp>
        <p:nvSpPr>
          <p:cNvPr id="138" name="Google Shape;138;g38535d31bb4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535d31bb4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8535d31bb4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latin typeface="Roboto"/>
              <a:ea typeface="Roboto"/>
              <a:cs typeface="Roboto"/>
              <a:sym typeface="Roboto"/>
            </a:endParaRPr>
          </a:p>
        </p:txBody>
      </p:sp>
      <p:sp>
        <p:nvSpPr>
          <p:cNvPr id="152" name="Google Shape;152;g38535d31bb4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latin typeface="Roboto"/>
              <a:ea typeface="Roboto"/>
              <a:cs typeface="Roboto"/>
              <a:sym typeface="Roboto"/>
            </a:endParaRP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993de5706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7993de5706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To make a reasonable hypothesis for this experiment, I searched for research papers that </a:t>
            </a:r>
            <a:r>
              <a:rPr lang="en-US">
                <a:latin typeface="Roboto"/>
                <a:ea typeface="Roboto"/>
                <a:cs typeface="Roboto"/>
                <a:sym typeface="Roboto"/>
              </a:rPr>
              <a:t>could</a:t>
            </a:r>
            <a:r>
              <a:rPr lang="en-US">
                <a:latin typeface="Roboto"/>
                <a:ea typeface="Roboto"/>
                <a:cs typeface="Roboto"/>
                <a:sym typeface="Roboto"/>
              </a:rPr>
              <a:t> compare our 3 promoters. However there was no single paper that compared the 3 promoters. To remain consistent among our comparison I chose an alternative approach. Enformer is a model that was recently released (not peer reviewed yet) that can predict gene expression. As a reference point I ran this model on my device and it predicted that CAG would have the highest expression, followed by hEF1a and MNDU3. </a:t>
            </a:r>
            <a:endParaRPr>
              <a:latin typeface="Roboto"/>
              <a:ea typeface="Roboto"/>
              <a:cs typeface="Roboto"/>
              <a:sym typeface="Roboto"/>
            </a:endParaRPr>
          </a:p>
        </p:txBody>
      </p:sp>
      <p:sp>
        <p:nvSpPr>
          <p:cNvPr id="171" name="Google Shape;171;g37993de5706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The first step in our experiment to validate our hypothesis was to run a PCR to duplicate both our tag sequence and </a:t>
            </a:r>
            <a:r>
              <a:rPr lang="en-US">
                <a:latin typeface="Roboto"/>
                <a:ea typeface="Roboto"/>
                <a:cs typeface="Roboto"/>
                <a:sym typeface="Roboto"/>
              </a:rPr>
              <a:t>fluorophore</a:t>
            </a:r>
            <a:r>
              <a:rPr lang="en-US">
                <a:latin typeface="Roboto"/>
                <a:ea typeface="Roboto"/>
                <a:cs typeface="Roboto"/>
                <a:sym typeface="Roboto"/>
              </a:rPr>
              <a:t> sequence. Next we took our results and ran it through a gel to validate the accuracy of our production. Once confirmed we extracted our bands of interest and purified the DNA from it. Then we performed a gibson reaction to paste our two sequences (tag &amp; </a:t>
            </a:r>
            <a:r>
              <a:rPr lang="en-US">
                <a:latin typeface="Roboto"/>
                <a:ea typeface="Roboto"/>
                <a:cs typeface="Roboto"/>
                <a:sym typeface="Roboto"/>
              </a:rPr>
              <a:t>fluorophore</a:t>
            </a:r>
            <a:r>
              <a:rPr lang="en-US">
                <a:latin typeface="Roboto"/>
                <a:ea typeface="Roboto"/>
                <a:cs typeface="Roboto"/>
                <a:sym typeface="Roboto"/>
              </a:rPr>
              <a:t>) together into the backbone. Finally to clean up our DNA, we ran a digestion with Dpn1 to get rid of an template DNA remaining. </a:t>
            </a:r>
            <a:endParaRPr>
              <a:latin typeface="Roboto"/>
              <a:ea typeface="Roboto"/>
              <a:cs typeface="Roboto"/>
              <a:sym typeface="Roboto"/>
            </a:endParaRPr>
          </a:p>
        </p:txBody>
      </p:sp>
      <p:sp>
        <p:nvSpPr>
          <p:cNvPr id="191" name="Google Shape;1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8520d52077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8520d52077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Once we had our first plasmid of interest we performed heat shock to place it into bacteria and then grow it on agar plates. After incubating overnight we selected a single colony and placed it in a liquid </a:t>
            </a:r>
            <a:r>
              <a:rPr lang="en-US">
                <a:latin typeface="Roboto"/>
                <a:ea typeface="Roboto"/>
                <a:cs typeface="Roboto"/>
                <a:sym typeface="Roboto"/>
              </a:rPr>
              <a:t>bacteria</a:t>
            </a:r>
            <a:r>
              <a:rPr lang="en-US">
                <a:latin typeface="Roboto"/>
                <a:ea typeface="Roboto"/>
                <a:cs typeface="Roboto"/>
                <a:sym typeface="Roboto"/>
              </a:rPr>
              <a:t> culture to replicate our plasmid of interest. After allowing for overnight growth we ran miniprep to extract our plasmid DNA from the bacteria. Once we isolated and quantified our DNA using nanodrop spectrophotometer, we performed a golden gate assembly. The golden gate was run with our level 0 plasmid along with prebuilt plasmids for the promoter, terminator, backbone and other components. Finally we placed that into bacteria to replicate our plasmid of interest. </a:t>
            </a:r>
            <a:endParaRPr>
              <a:latin typeface="Roboto"/>
              <a:ea typeface="Roboto"/>
              <a:cs typeface="Roboto"/>
              <a:sym typeface="Roboto"/>
            </a:endParaRPr>
          </a:p>
        </p:txBody>
      </p:sp>
      <p:sp>
        <p:nvSpPr>
          <p:cNvPr id="215" name="Google Shape;215;g38520d52077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8520d52077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8520d52077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After allowing for overnight growth on the agar plate we placed a single colony once more into a vial for liquid growth. After growing the bacteria we extracted our final DNA through miniprep. We then ran a quality control to verify we produced the correct sequence. We also seeded our plate to have similar cell counts to allow for cell transfection in our experiment.</a:t>
            </a:r>
            <a:endParaRPr>
              <a:latin typeface="Roboto"/>
              <a:ea typeface="Roboto"/>
              <a:cs typeface="Roboto"/>
              <a:sym typeface="Roboto"/>
            </a:endParaRPr>
          </a:p>
        </p:txBody>
      </p:sp>
      <p:sp>
        <p:nvSpPr>
          <p:cNvPr id="240" name="Google Shape;240;g38520d52077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Roboto"/>
                <a:ea typeface="Roboto"/>
                <a:cs typeface="Roboto"/>
                <a:sym typeface="Roboto"/>
              </a:rPr>
              <a:t>Of our 5 devices, only the 2 from the first cycle worked correctly. The image on the left is our device with the CAG </a:t>
            </a:r>
            <a:r>
              <a:rPr lang="en-US">
                <a:latin typeface="Roboto"/>
                <a:ea typeface="Roboto"/>
                <a:cs typeface="Roboto"/>
                <a:sym typeface="Roboto"/>
              </a:rPr>
              <a:t>promoter with the one on the left being hEF1a; both target the cell cytoplasm. The remaining 3 devices from the second cycle did not work out, I’ll explain the reasons later in the conclusion.</a:t>
            </a:r>
            <a:endParaRPr>
              <a:latin typeface="Roboto"/>
              <a:ea typeface="Roboto"/>
              <a:cs typeface="Roboto"/>
              <a:sym typeface="Roboto"/>
            </a:endParaRPr>
          </a:p>
          <a:p>
            <a:pPr indent="0" lvl="0" marL="0" rtl="0" algn="l">
              <a:lnSpc>
                <a:spcPct val="100000"/>
              </a:lnSpc>
              <a:spcBef>
                <a:spcPts val="0"/>
              </a:spcBef>
              <a:spcAft>
                <a:spcPts val="0"/>
              </a:spcAft>
              <a:buSzPts val="1400"/>
              <a:buNone/>
            </a:pPr>
            <a:r>
              <a:rPr lang="en-US">
                <a:latin typeface="Roboto"/>
                <a:ea typeface="Roboto"/>
                <a:cs typeface="Roboto"/>
                <a:sym typeface="Roboto"/>
              </a:rPr>
              <a:t>The well on the left was given twice as much DNA as the one on the right. However the one on the left was also taken with an exposure time 4 times as much. It’s difficult to compare the 2 though as the fluorophores are different.</a:t>
            </a:r>
            <a:endParaRPr>
              <a:latin typeface="Roboto"/>
              <a:ea typeface="Roboto"/>
              <a:cs typeface="Roboto"/>
              <a:sym typeface="Roboto"/>
            </a:endParaRPr>
          </a:p>
        </p:txBody>
      </p:sp>
      <p:sp>
        <p:nvSpPr>
          <p:cNvPr id="266" name="Google Shape;2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Roboto"/>
                <a:ea typeface="Roboto"/>
                <a:cs typeface="Roboto"/>
                <a:sym typeface="Roboto"/>
              </a:rPr>
              <a:t>We did not get the chance to run flow cytometry on our cells, however we were given demo data to analyze </a:t>
            </a:r>
            <a:r>
              <a:rPr lang="en-US">
                <a:latin typeface="Roboto"/>
                <a:ea typeface="Roboto"/>
                <a:cs typeface="Roboto"/>
                <a:sym typeface="Roboto"/>
              </a:rPr>
              <a:t>instead</a:t>
            </a:r>
            <a:r>
              <a:rPr lang="en-US">
                <a:latin typeface="Roboto"/>
                <a:ea typeface="Roboto"/>
                <a:cs typeface="Roboto"/>
                <a:sym typeface="Roboto"/>
              </a:rPr>
              <a:t>. Here I have plotted the forward scatter height against the 3 colours for our positive controls. C14 was our Blue, C24 was our green and C34 was our red. The horizontal line indicates that we had cells presenting the target colour for each condition. The transition to green and red indicates more cells were at the lower end of the spectrum as expected. We don’t expect cells to take up a high level of devices, but rather only a few and follow the poisson distribution, which is what we see. </a:t>
            </a:r>
            <a:endParaRPr>
              <a:latin typeface="Roboto"/>
              <a:ea typeface="Roboto"/>
              <a:cs typeface="Roboto"/>
              <a:sym typeface="Roboto"/>
            </a:endParaRPr>
          </a:p>
        </p:txBody>
      </p:sp>
      <p:sp>
        <p:nvSpPr>
          <p:cNvPr id="276" name="Google Shape;2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Roboto"/>
                <a:ea typeface="Roboto"/>
                <a:cs typeface="Roboto"/>
                <a:sym typeface="Roboto"/>
              </a:rPr>
              <a:t>Here are our 2 mixes that we were provided to work with. The mixture on the left has a 1-1-1 ratio of blue, green &amp; red.The one on the right has a ratio of 3 blue to 2 green and 1 red. The x axis on both is red while the y axis on both is green. The colour axis represents the strength of blue, lower levels are in blue with higher </a:t>
            </a:r>
            <a:r>
              <a:rPr lang="en-US">
                <a:latin typeface="Roboto"/>
                <a:ea typeface="Roboto"/>
                <a:cs typeface="Roboto"/>
                <a:sym typeface="Roboto"/>
              </a:rPr>
              <a:t>levels</a:t>
            </a:r>
            <a:r>
              <a:rPr lang="en-US">
                <a:latin typeface="Roboto"/>
                <a:ea typeface="Roboto"/>
                <a:cs typeface="Roboto"/>
                <a:sym typeface="Roboto"/>
              </a:rPr>
              <a:t> in red. </a:t>
            </a:r>
            <a:endParaRPr>
              <a:latin typeface="Roboto"/>
              <a:ea typeface="Roboto"/>
              <a:cs typeface="Roboto"/>
              <a:sym typeface="Roboto"/>
            </a:endParaRPr>
          </a:p>
          <a:p>
            <a:pPr indent="0" lvl="0" marL="0" rtl="0" algn="l">
              <a:lnSpc>
                <a:spcPct val="100000"/>
              </a:lnSpc>
              <a:spcBef>
                <a:spcPts val="0"/>
              </a:spcBef>
              <a:spcAft>
                <a:spcPts val="0"/>
              </a:spcAft>
              <a:buSzPts val="1400"/>
              <a:buNone/>
            </a:pPr>
            <a:r>
              <a:rPr lang="en-US">
                <a:latin typeface="Roboto"/>
                <a:ea typeface="Roboto"/>
                <a:cs typeface="Roboto"/>
                <a:sym typeface="Roboto"/>
              </a:rPr>
              <a:t>Though the plots may look similar, the distinction becomes more clear once we add a </a:t>
            </a:r>
            <a:r>
              <a:rPr lang="en-US">
                <a:latin typeface="Roboto"/>
                <a:ea typeface="Roboto"/>
                <a:cs typeface="Roboto"/>
                <a:sym typeface="Roboto"/>
              </a:rPr>
              <a:t>guideline</a:t>
            </a:r>
            <a:r>
              <a:rPr lang="en-US">
                <a:latin typeface="Roboto"/>
                <a:ea typeface="Roboto"/>
                <a:cs typeface="Roboto"/>
                <a:sym typeface="Roboto"/>
              </a:rPr>
              <a:t> through the center of both </a:t>
            </a:r>
            <a:r>
              <a:rPr lang="en-US">
                <a:latin typeface="Roboto"/>
                <a:ea typeface="Roboto"/>
                <a:cs typeface="Roboto"/>
                <a:sym typeface="Roboto"/>
              </a:rPr>
              <a:t>gradient</a:t>
            </a:r>
            <a:r>
              <a:rPr lang="en-US">
                <a:latin typeface="Roboto"/>
                <a:ea typeface="Roboto"/>
                <a:cs typeface="Roboto"/>
                <a:sym typeface="Roboto"/>
              </a:rPr>
              <a:t> plots. The plot on the left has a guideline through x=y, showing how equal levels of red and green appear. The equal split along the colours indicate a good spread as we expected in the 1-1-1 ratio. </a:t>
            </a:r>
            <a:endParaRPr>
              <a:latin typeface="Roboto"/>
              <a:ea typeface="Roboto"/>
              <a:cs typeface="Roboto"/>
              <a:sym typeface="Roboto"/>
            </a:endParaRPr>
          </a:p>
          <a:p>
            <a:pPr indent="0" lvl="0" marL="0" rtl="0" algn="l">
              <a:lnSpc>
                <a:spcPct val="100000"/>
              </a:lnSpc>
              <a:spcBef>
                <a:spcPts val="0"/>
              </a:spcBef>
              <a:spcAft>
                <a:spcPts val="0"/>
              </a:spcAft>
              <a:buSzPts val="1400"/>
              <a:buNone/>
            </a:pPr>
            <a:r>
              <a:rPr lang="en-US">
                <a:latin typeface="Roboto"/>
                <a:ea typeface="Roboto"/>
                <a:cs typeface="Roboto"/>
                <a:sym typeface="Roboto"/>
              </a:rPr>
              <a:t>The plot on the </a:t>
            </a:r>
            <a:r>
              <a:rPr lang="en-US">
                <a:latin typeface="Roboto"/>
                <a:ea typeface="Roboto"/>
                <a:cs typeface="Roboto"/>
                <a:sym typeface="Roboto"/>
              </a:rPr>
              <a:t>right</a:t>
            </a:r>
            <a:r>
              <a:rPr lang="en-US">
                <a:latin typeface="Roboto"/>
                <a:ea typeface="Roboto"/>
                <a:cs typeface="Roboto"/>
                <a:sym typeface="Roboto"/>
              </a:rPr>
              <a:t> (ignoring the colour for now), shows a shift upwards indicating more green than red, which we expect as there is 2 times as much green than red. The colour shift indicates lots of red in a very dense region </a:t>
            </a:r>
            <a:r>
              <a:rPr lang="en-US">
                <a:latin typeface="Roboto"/>
                <a:ea typeface="Roboto"/>
                <a:cs typeface="Roboto"/>
                <a:sym typeface="Roboto"/>
              </a:rPr>
              <a:t>compared to</a:t>
            </a:r>
            <a:r>
              <a:rPr lang="en-US">
                <a:latin typeface="Roboto"/>
                <a:ea typeface="Roboto"/>
                <a:cs typeface="Roboto"/>
                <a:sym typeface="Roboto"/>
              </a:rPr>
              <a:t> blue as expected. It’s difficult to ascertain precise quantities, but from what we do see the ratio is visible. </a:t>
            </a:r>
            <a:endParaRPr>
              <a:latin typeface="Roboto"/>
              <a:ea typeface="Roboto"/>
              <a:cs typeface="Roboto"/>
              <a:sym typeface="Roboto"/>
            </a:endParaRPr>
          </a:p>
          <a:p>
            <a:pPr indent="0" lvl="0" marL="0" rtl="0" algn="l">
              <a:lnSpc>
                <a:spcPct val="100000"/>
              </a:lnSpc>
              <a:spcBef>
                <a:spcPts val="0"/>
              </a:spcBef>
              <a:spcAft>
                <a:spcPts val="0"/>
              </a:spcAft>
              <a:buSzPts val="1400"/>
              <a:buNone/>
            </a:pPr>
            <a:r>
              <a:rPr lang="en-US">
                <a:latin typeface="Roboto"/>
                <a:ea typeface="Roboto"/>
                <a:cs typeface="Roboto"/>
                <a:sym typeface="Roboto"/>
              </a:rPr>
              <a:t>It’s difficult to compare the 2 plots directly as the density of cells is different (the one on the right has nearly 4 times as many cells). </a:t>
            </a:r>
            <a:endParaRPr>
              <a:latin typeface="Roboto"/>
              <a:ea typeface="Roboto"/>
              <a:cs typeface="Roboto"/>
              <a:sym typeface="Roboto"/>
            </a:endParaRPr>
          </a:p>
        </p:txBody>
      </p:sp>
      <p:sp>
        <p:nvSpPr>
          <p:cNvPr id="290" name="Google Shape;2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79b7910759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79b7910759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Roboto"/>
                <a:ea typeface="Roboto"/>
                <a:cs typeface="Roboto"/>
                <a:sym typeface="Roboto"/>
              </a:rPr>
              <a:t>To compare our promoters, we have a different set of 3 flow data to analyze. Here I’ve plotted the Neon green against the forward scatter for the 3 promoters. These results indicate our CAG &amp; hEF1a had similar results, while our MNDU3 had the lowest expression. Enformer had hypothesized CAG would have the highest expression, followed by MNDU3 and hEF1a. The results are first glance here show that CAG &amp; hEF1a had the highest expression with MNDU3 with the lowest. As mentioned before Enformer had not been peer reviewed as of yet, and the model used was a rough estimator. Furthermore a direct </a:t>
            </a:r>
            <a:r>
              <a:rPr lang="en-US">
                <a:latin typeface="Roboto"/>
                <a:ea typeface="Roboto"/>
                <a:cs typeface="Roboto"/>
                <a:sym typeface="Roboto"/>
              </a:rPr>
              <a:t>comparison</a:t>
            </a:r>
            <a:r>
              <a:rPr lang="en-US">
                <a:latin typeface="Roboto"/>
                <a:ea typeface="Roboto"/>
                <a:cs typeface="Roboto"/>
                <a:sym typeface="Roboto"/>
              </a:rPr>
              <a:t> across these 3 promoters is difficult as the cell count varies across them. This is also a single experiment, and so it becomes difficult to </a:t>
            </a:r>
            <a:r>
              <a:rPr lang="en-US">
                <a:latin typeface="Roboto"/>
                <a:ea typeface="Roboto"/>
                <a:cs typeface="Roboto"/>
                <a:sym typeface="Roboto"/>
              </a:rPr>
              <a:t>assess</a:t>
            </a:r>
            <a:r>
              <a:rPr lang="en-US">
                <a:latin typeface="Roboto"/>
                <a:ea typeface="Roboto"/>
                <a:cs typeface="Roboto"/>
                <a:sym typeface="Roboto"/>
              </a:rPr>
              <a:t> the system equally. What is evident is that MNDU3 had the lowest expression among the 3. </a:t>
            </a:r>
            <a:endParaRPr>
              <a:latin typeface="Roboto"/>
              <a:ea typeface="Roboto"/>
              <a:cs typeface="Roboto"/>
              <a:sym typeface="Roboto"/>
            </a:endParaRPr>
          </a:p>
        </p:txBody>
      </p:sp>
      <p:sp>
        <p:nvSpPr>
          <p:cNvPr id="310" name="Google Shape;310;g379b7910759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From the experiment, we found that 2 of our 5 devices were successful. Both of them were from our first cycle, indicating one cycle was fully successful. The second wave did not work, we suspect an error must have occured during our golden gate </a:t>
            </a:r>
            <a:r>
              <a:rPr lang="en-US">
                <a:latin typeface="Roboto"/>
                <a:ea typeface="Roboto"/>
                <a:cs typeface="Roboto"/>
                <a:sym typeface="Roboto"/>
              </a:rPr>
              <a:t>assembly</a:t>
            </a:r>
            <a:r>
              <a:rPr lang="en-US">
                <a:latin typeface="Roboto"/>
                <a:ea typeface="Roboto"/>
                <a:cs typeface="Roboto"/>
                <a:sym typeface="Roboto"/>
              </a:rPr>
              <a:t>. We had </a:t>
            </a:r>
            <a:r>
              <a:rPr lang="en-US">
                <a:latin typeface="Roboto"/>
                <a:ea typeface="Roboto"/>
                <a:cs typeface="Roboto"/>
                <a:sym typeface="Roboto"/>
              </a:rPr>
              <a:t>successful</a:t>
            </a:r>
            <a:r>
              <a:rPr lang="en-US">
                <a:latin typeface="Roboto"/>
                <a:ea typeface="Roboto"/>
                <a:cs typeface="Roboto"/>
                <a:sym typeface="Roboto"/>
              </a:rPr>
              <a:t> bacteria grow in our agar plates &amp; liquid cultures, so they must have had a plasmid containing our antibiotic of resistance. The lack of </a:t>
            </a:r>
            <a:r>
              <a:rPr lang="en-US">
                <a:latin typeface="Roboto"/>
                <a:ea typeface="Roboto"/>
                <a:cs typeface="Roboto"/>
                <a:sym typeface="Roboto"/>
              </a:rPr>
              <a:t>fluorescence</a:t>
            </a:r>
            <a:r>
              <a:rPr lang="en-US">
                <a:latin typeface="Roboto"/>
                <a:ea typeface="Roboto"/>
                <a:cs typeface="Roboto"/>
                <a:sym typeface="Roboto"/>
              </a:rPr>
              <a:t> along with the quality check gel are clear indicators that our plasmid was not the one of interest. </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Furthermore it’s difficult to compare our promoters directly as we had use different concentrations along with different exposures for imaging. A direct comparison would also require a positive control which we did not get to do. </a:t>
            </a:r>
            <a:endParaRPr>
              <a:latin typeface="Roboto"/>
              <a:ea typeface="Roboto"/>
              <a:cs typeface="Roboto"/>
              <a:sym typeface="Roboto"/>
            </a:endParaRPr>
          </a:p>
        </p:txBody>
      </p:sp>
      <p:sp>
        <p:nvSpPr>
          <p:cNvPr id="324" name="Google Shape;3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As for further testing, we could test our device in different types of cells to understand how the cellular environment could impact gene expression. Proper experimentation with positive &amp; negative controls could clarify the strength of promoters. </a:t>
            </a:r>
            <a:r>
              <a:rPr lang="en-US">
                <a:latin typeface="Roboto"/>
                <a:ea typeface="Roboto"/>
                <a:cs typeface="Roboto"/>
                <a:sym typeface="Roboto"/>
              </a:rPr>
              <a:t>Performing</a:t>
            </a:r>
            <a:r>
              <a:rPr lang="en-US">
                <a:latin typeface="Roboto"/>
                <a:ea typeface="Roboto"/>
                <a:cs typeface="Roboto"/>
                <a:sym typeface="Roboto"/>
              </a:rPr>
              <a:t> a non-transient transfection method could help us to understand the </a:t>
            </a:r>
            <a:r>
              <a:rPr lang="en-US">
                <a:latin typeface="Roboto"/>
                <a:ea typeface="Roboto"/>
                <a:cs typeface="Roboto"/>
                <a:sym typeface="Roboto"/>
              </a:rPr>
              <a:t>long-term effect of the promoter on our genetic device as well. </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Performing similar experiments is important as it can help us understand the strength of promoters &amp; aid in simulating genetic circuits. A correct implementation could help us quickly identify cell type as different cell types have different concentration of certain organelles. Furthermore it could be used to understand how organelles in particular respond to environmental stimuli. </a:t>
            </a:r>
            <a:endParaRPr>
              <a:latin typeface="Roboto"/>
              <a:ea typeface="Roboto"/>
              <a:cs typeface="Roboto"/>
              <a:sym typeface="Roboto"/>
            </a:endParaRPr>
          </a:p>
        </p:txBody>
      </p:sp>
      <p:sp>
        <p:nvSpPr>
          <p:cNvPr id="333" name="Google Shape;33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8541c39ab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8541c39ab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And that’s the end of my presentation. Thank you. </a:t>
            </a:r>
            <a:endParaRPr>
              <a:latin typeface="Roboto"/>
              <a:ea typeface="Roboto"/>
              <a:cs typeface="Roboto"/>
              <a:sym typeface="Roboto"/>
            </a:endParaRPr>
          </a:p>
        </p:txBody>
      </p:sp>
      <p:sp>
        <p:nvSpPr>
          <p:cNvPr id="344" name="Google Shape;344;g38541c39ab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latin typeface="Roboto"/>
                <a:ea typeface="Roboto"/>
                <a:cs typeface="Roboto"/>
                <a:sym typeface="Roboto"/>
              </a:rPr>
              <a:t>Here are the sources I used for this paper. </a:t>
            </a:r>
            <a:endParaRPr>
              <a:latin typeface="Roboto"/>
              <a:ea typeface="Roboto"/>
              <a:cs typeface="Roboto"/>
              <a:sym typeface="Roboto"/>
            </a:endParaRPr>
          </a:p>
        </p:txBody>
      </p:sp>
      <p:sp>
        <p:nvSpPr>
          <p:cNvPr id="350" name="Google Shape;35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a62497f80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7a62497f80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latin typeface="Roboto"/>
              <a:ea typeface="Roboto"/>
              <a:cs typeface="Roboto"/>
              <a:sym typeface="Roboto"/>
            </a:endParaRPr>
          </a:p>
        </p:txBody>
      </p:sp>
      <p:sp>
        <p:nvSpPr>
          <p:cNvPr id="357" name="Google Shape;357;g37a62497f80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6"/>
              </a:buClr>
              <a:buSzPts val="2400"/>
              <a:buNone/>
              <a:defRPr sz="2400">
                <a:solidFill>
                  <a:srgbClr val="757576"/>
                </a:solidFill>
              </a:defRPr>
            </a:lvl1pPr>
            <a:lvl2pPr indent="-228600" lvl="1" marL="914400" algn="l">
              <a:lnSpc>
                <a:spcPct val="90000"/>
              </a:lnSpc>
              <a:spcBef>
                <a:spcPts val="500"/>
              </a:spcBef>
              <a:spcAft>
                <a:spcPts val="0"/>
              </a:spcAft>
              <a:buClr>
                <a:srgbClr val="757576"/>
              </a:buClr>
              <a:buSzPts val="2000"/>
              <a:buNone/>
              <a:defRPr sz="2000">
                <a:solidFill>
                  <a:srgbClr val="757576"/>
                </a:solidFill>
              </a:defRPr>
            </a:lvl2pPr>
            <a:lvl3pPr indent="-228600" lvl="2" marL="1371600" algn="l">
              <a:lnSpc>
                <a:spcPct val="90000"/>
              </a:lnSpc>
              <a:spcBef>
                <a:spcPts val="500"/>
              </a:spcBef>
              <a:spcAft>
                <a:spcPts val="0"/>
              </a:spcAft>
              <a:buClr>
                <a:srgbClr val="757576"/>
              </a:buClr>
              <a:buSzPts val="1800"/>
              <a:buNone/>
              <a:defRPr sz="1800">
                <a:solidFill>
                  <a:srgbClr val="757576"/>
                </a:solidFill>
              </a:defRPr>
            </a:lvl3pPr>
            <a:lvl4pPr indent="-228600" lvl="3" marL="1828800" algn="l">
              <a:lnSpc>
                <a:spcPct val="90000"/>
              </a:lnSpc>
              <a:spcBef>
                <a:spcPts val="500"/>
              </a:spcBef>
              <a:spcAft>
                <a:spcPts val="0"/>
              </a:spcAft>
              <a:buClr>
                <a:srgbClr val="757576"/>
              </a:buClr>
              <a:buSzPts val="1600"/>
              <a:buNone/>
              <a:defRPr sz="1600">
                <a:solidFill>
                  <a:srgbClr val="757576"/>
                </a:solidFill>
              </a:defRPr>
            </a:lvl4pPr>
            <a:lvl5pPr indent="-228600" lvl="4" marL="2286000" algn="l">
              <a:lnSpc>
                <a:spcPct val="90000"/>
              </a:lnSpc>
              <a:spcBef>
                <a:spcPts val="500"/>
              </a:spcBef>
              <a:spcAft>
                <a:spcPts val="0"/>
              </a:spcAft>
              <a:buClr>
                <a:srgbClr val="757576"/>
              </a:buClr>
              <a:buSzPts val="1600"/>
              <a:buNone/>
              <a:defRPr sz="1600">
                <a:solidFill>
                  <a:srgbClr val="757576"/>
                </a:solidFill>
              </a:defRPr>
            </a:lvl5pPr>
            <a:lvl6pPr indent="-228600" lvl="5" marL="2743200" algn="l">
              <a:lnSpc>
                <a:spcPct val="90000"/>
              </a:lnSpc>
              <a:spcBef>
                <a:spcPts val="500"/>
              </a:spcBef>
              <a:spcAft>
                <a:spcPts val="0"/>
              </a:spcAft>
              <a:buClr>
                <a:srgbClr val="757576"/>
              </a:buClr>
              <a:buSzPts val="1600"/>
              <a:buNone/>
              <a:defRPr sz="1600">
                <a:solidFill>
                  <a:srgbClr val="757576"/>
                </a:solidFill>
              </a:defRPr>
            </a:lvl6pPr>
            <a:lvl7pPr indent="-228600" lvl="6" marL="3200400" algn="l">
              <a:lnSpc>
                <a:spcPct val="90000"/>
              </a:lnSpc>
              <a:spcBef>
                <a:spcPts val="500"/>
              </a:spcBef>
              <a:spcAft>
                <a:spcPts val="0"/>
              </a:spcAft>
              <a:buClr>
                <a:srgbClr val="757576"/>
              </a:buClr>
              <a:buSzPts val="1600"/>
              <a:buNone/>
              <a:defRPr sz="1600">
                <a:solidFill>
                  <a:srgbClr val="757576"/>
                </a:solidFill>
              </a:defRPr>
            </a:lvl7pPr>
            <a:lvl8pPr indent="-228600" lvl="7" marL="3657600" algn="l">
              <a:lnSpc>
                <a:spcPct val="90000"/>
              </a:lnSpc>
              <a:spcBef>
                <a:spcPts val="500"/>
              </a:spcBef>
              <a:spcAft>
                <a:spcPts val="0"/>
              </a:spcAft>
              <a:buClr>
                <a:srgbClr val="757576"/>
              </a:buClr>
              <a:buSzPts val="1600"/>
              <a:buNone/>
              <a:defRPr sz="1600">
                <a:solidFill>
                  <a:srgbClr val="757576"/>
                </a:solidFill>
              </a:defRPr>
            </a:lvl8pPr>
            <a:lvl9pPr indent="-228600" lvl="8" marL="4114800" algn="l">
              <a:lnSpc>
                <a:spcPct val="90000"/>
              </a:lnSpc>
              <a:spcBef>
                <a:spcPts val="500"/>
              </a:spcBef>
              <a:spcAft>
                <a:spcPts val="0"/>
              </a:spcAft>
              <a:buClr>
                <a:srgbClr val="757576"/>
              </a:buClr>
              <a:buSzPts val="1600"/>
              <a:buNone/>
              <a:defRPr sz="1600">
                <a:solidFill>
                  <a:srgbClr val="757576"/>
                </a:solidFill>
              </a:defRPr>
            </a:lvl9pPr>
          </a:lstStyle>
          <a:p/>
        </p:txBody>
      </p:sp>
      <p:sp>
        <p:nvSpPr>
          <p:cNvPr id="35" name="Google Shape;3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p:nvPr>
            <p:ph idx="2" type="pic"/>
          </p:nvPr>
        </p:nvSpPr>
        <p:spPr>
          <a:xfrm>
            <a:off x="5183188" y="987425"/>
            <a:ext cx="6172200" cy="4873625"/>
          </a:xfrm>
          <a:prstGeom prst="rect">
            <a:avLst/>
          </a:prstGeom>
          <a:noFill/>
          <a:ln>
            <a:noFill/>
          </a:ln>
        </p:spPr>
      </p:sp>
      <p:sp>
        <p:nvSpPr>
          <p:cNvPr id="68" name="Google Shape;68;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6"/>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7.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oi.org/10.1101/2024.08.01.606099" TargetMode="External"/><Relationship Id="rId4" Type="http://schemas.openxmlformats.org/officeDocument/2006/relationships/hyperlink" Target="https://doi.org/10.1038/s41592-024-02528-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0" l="0" r="0" t="0"/>
          <a:stretch/>
        </p:blipFill>
        <p:spPr>
          <a:xfrm>
            <a:off x="587375" y="549275"/>
            <a:ext cx="685800" cy="685800"/>
          </a:xfrm>
          <a:prstGeom prst="rect">
            <a:avLst/>
          </a:prstGeom>
          <a:noFill/>
          <a:ln>
            <a:noFill/>
          </a:ln>
        </p:spPr>
      </p:pic>
      <p:sp>
        <p:nvSpPr>
          <p:cNvPr id="90" name="Google Shape;90;p1"/>
          <p:cNvSpPr txBox="1"/>
          <p:nvPr/>
        </p:nvSpPr>
        <p:spPr>
          <a:xfrm>
            <a:off x="1273175" y="630575"/>
            <a:ext cx="15948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SBME</a:t>
            </a:r>
            <a:endParaRPr b="1">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1" lang="en-US">
                <a:solidFill>
                  <a:schemeClr val="dk1"/>
                </a:solidFill>
                <a:latin typeface="Roboto"/>
                <a:ea typeface="Roboto"/>
                <a:cs typeface="Roboto"/>
                <a:sym typeface="Roboto"/>
              </a:rPr>
              <a:t>UBC</a:t>
            </a:r>
            <a:endParaRPr b="1">
              <a:solidFill>
                <a:schemeClr val="dk1"/>
              </a:solidFill>
              <a:latin typeface="Roboto"/>
              <a:ea typeface="Roboto"/>
              <a:cs typeface="Roboto"/>
              <a:sym typeface="Roboto"/>
            </a:endParaRPr>
          </a:p>
        </p:txBody>
      </p:sp>
      <p:sp>
        <p:nvSpPr>
          <p:cNvPr id="91" name="Google Shape;91;p1"/>
          <p:cNvSpPr txBox="1"/>
          <p:nvPr/>
        </p:nvSpPr>
        <p:spPr>
          <a:xfrm>
            <a:off x="930275" y="1910993"/>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1"/>
          <p:cNvSpPr txBox="1"/>
          <p:nvPr/>
        </p:nvSpPr>
        <p:spPr>
          <a:xfrm>
            <a:off x="587374" y="2378467"/>
            <a:ext cx="11014800" cy="1323600"/>
          </a:xfrm>
          <a:prstGeom prst="rect">
            <a:avLst/>
          </a:prstGeom>
          <a:noFill/>
          <a:ln>
            <a:noFill/>
          </a:ln>
        </p:spPr>
        <p:txBody>
          <a:bodyPr anchorCtr="0" anchor="b"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lang="en-US" sz="4000">
                <a:solidFill>
                  <a:schemeClr val="dk2"/>
                </a:solidFill>
                <a:latin typeface="Roboto Medium"/>
                <a:ea typeface="Roboto Medium"/>
                <a:cs typeface="Roboto Medium"/>
                <a:sym typeface="Roboto Medium"/>
              </a:rPr>
              <a:t>Synthetic Biology</a:t>
            </a:r>
            <a:endParaRPr b="1" sz="4000">
              <a:solidFill>
                <a:schemeClr val="dk2"/>
              </a:solidFill>
              <a:latin typeface="Roboto Medium"/>
              <a:ea typeface="Roboto Medium"/>
              <a:cs typeface="Roboto Medium"/>
              <a:sym typeface="Roboto Medium"/>
            </a:endParaRPr>
          </a:p>
          <a:p>
            <a:pPr indent="0" lvl="0" marL="0" marR="0" rtl="0" algn="ctr">
              <a:lnSpc>
                <a:spcPct val="100000"/>
              </a:lnSpc>
              <a:spcBef>
                <a:spcPts val="0"/>
              </a:spcBef>
              <a:spcAft>
                <a:spcPts val="0"/>
              </a:spcAft>
              <a:buClr>
                <a:srgbClr val="000000"/>
              </a:buClr>
              <a:buSzPts val="4000"/>
              <a:buFont typeface="Arial"/>
              <a:buNone/>
            </a:pPr>
            <a:r>
              <a:rPr b="1" lang="en-US" sz="4000">
                <a:solidFill>
                  <a:schemeClr val="dk2"/>
                </a:solidFill>
                <a:latin typeface="Roboto Medium"/>
                <a:ea typeface="Roboto Medium"/>
                <a:cs typeface="Roboto Medium"/>
                <a:sym typeface="Roboto Medium"/>
              </a:rPr>
              <a:t>BMEG 426</a:t>
            </a:r>
            <a:endParaRPr b="1" sz="4000">
              <a:solidFill>
                <a:schemeClr val="dk2"/>
              </a:solidFill>
              <a:latin typeface="Roboto Medium"/>
              <a:ea typeface="Roboto Medium"/>
              <a:cs typeface="Roboto Medium"/>
              <a:sym typeface="Roboto Medium"/>
            </a:endParaRPr>
          </a:p>
        </p:txBody>
      </p:sp>
      <p:sp>
        <p:nvSpPr>
          <p:cNvPr id="93" name="Google Shape;93;p1"/>
          <p:cNvSpPr txBox="1"/>
          <p:nvPr/>
        </p:nvSpPr>
        <p:spPr>
          <a:xfrm>
            <a:off x="589943" y="5162303"/>
            <a:ext cx="1101211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a:solidFill>
                  <a:schemeClr val="dk1"/>
                </a:solidFill>
                <a:latin typeface="Roboto"/>
                <a:ea typeface="Roboto"/>
                <a:cs typeface="Roboto"/>
                <a:sym typeface="Roboto"/>
              </a:rPr>
              <a:t>Kalaimaran Balasothy</a:t>
            </a:r>
            <a:endParaRPr b="1" i="0" sz="1400" u="none" cap="none" strike="noStrike">
              <a:solidFill>
                <a:srgbClr val="000000"/>
              </a:solidFill>
            </a:endParaRPr>
          </a:p>
        </p:txBody>
      </p:sp>
      <p:pic>
        <p:nvPicPr>
          <p:cNvPr id="94" name="Google Shape;94;p1"/>
          <p:cNvPicPr preferRelativeResize="0"/>
          <p:nvPr/>
        </p:nvPicPr>
        <p:blipFill rotWithShape="1">
          <a:blip r:embed="rId4">
            <a:alphaModFix/>
          </a:blip>
          <a:srcRect b="31176" l="26229" r="0" t="0"/>
          <a:stretch/>
        </p:blipFill>
        <p:spPr>
          <a:xfrm>
            <a:off x="0" y="4683700"/>
            <a:ext cx="2338850" cy="2174300"/>
          </a:xfrm>
          <a:prstGeom prst="rect">
            <a:avLst/>
          </a:prstGeom>
          <a:noFill/>
          <a:ln>
            <a:noFill/>
          </a:ln>
        </p:spPr>
      </p:pic>
      <p:pic>
        <p:nvPicPr>
          <p:cNvPr id="95" name="Google Shape;95;p1"/>
          <p:cNvPicPr preferRelativeResize="0"/>
          <p:nvPr/>
        </p:nvPicPr>
        <p:blipFill rotWithShape="1">
          <a:blip r:embed="rId4">
            <a:alphaModFix/>
          </a:blip>
          <a:srcRect b="158" l="25683" r="0" t="0"/>
          <a:stretch/>
        </p:blipFill>
        <p:spPr>
          <a:xfrm rot="10800000">
            <a:off x="10915925" y="886850"/>
            <a:ext cx="1289850" cy="1726575"/>
          </a:xfrm>
          <a:prstGeom prst="rect">
            <a:avLst/>
          </a:prstGeom>
          <a:noFill/>
          <a:ln>
            <a:noFill/>
          </a:ln>
        </p:spPr>
      </p:pic>
      <p:pic>
        <p:nvPicPr>
          <p:cNvPr id="96" name="Google Shape;96;p1"/>
          <p:cNvPicPr preferRelativeResize="0"/>
          <p:nvPr/>
        </p:nvPicPr>
        <p:blipFill rotWithShape="1">
          <a:blip r:embed="rId5">
            <a:alphaModFix amt="80000"/>
          </a:blip>
          <a:srcRect b="0" l="0" r="0" t="44071"/>
          <a:stretch/>
        </p:blipFill>
        <p:spPr>
          <a:xfrm flipH="1">
            <a:off x="8108400" y="0"/>
            <a:ext cx="2953574" cy="1645876"/>
          </a:xfrm>
          <a:prstGeom prst="rect">
            <a:avLst/>
          </a:prstGeom>
          <a:noFill/>
          <a:ln>
            <a:noFill/>
          </a:ln>
        </p:spPr>
      </p:pic>
      <p:pic>
        <p:nvPicPr>
          <p:cNvPr id="97" name="Google Shape;97;p1"/>
          <p:cNvPicPr preferRelativeResize="0"/>
          <p:nvPr/>
        </p:nvPicPr>
        <p:blipFill rotWithShape="1">
          <a:blip r:embed="rId5">
            <a:alphaModFix amt="80000"/>
          </a:blip>
          <a:srcRect b="0" l="0" r="0" t="39558"/>
          <a:stretch/>
        </p:blipFill>
        <p:spPr>
          <a:xfrm rot="10800000">
            <a:off x="10214500" y="5880525"/>
            <a:ext cx="1661675" cy="1000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
          <p:cNvSpPr txBox="1"/>
          <p:nvPr>
            <p:ph type="title"/>
          </p:nvPr>
        </p:nvSpPr>
        <p:spPr>
          <a:xfrm>
            <a:off x="587375" y="2988788"/>
            <a:ext cx="4510026" cy="8804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Table of Contents</a:t>
            </a:r>
            <a:endParaRPr/>
          </a:p>
        </p:txBody>
      </p:sp>
      <p:sp>
        <p:nvSpPr>
          <p:cNvPr id="104" name="Google Shape;104;p2"/>
          <p:cNvSpPr txBox="1"/>
          <p:nvPr/>
        </p:nvSpPr>
        <p:spPr>
          <a:xfrm>
            <a:off x="5854058" y="1306608"/>
            <a:ext cx="6835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Roboto"/>
                <a:ea typeface="Roboto"/>
                <a:cs typeface="Roboto"/>
                <a:sym typeface="Roboto"/>
              </a:rPr>
              <a:t>I</a:t>
            </a:r>
            <a:endParaRPr b="0" i="0" sz="2400" u="none" cap="none" strike="noStrike">
              <a:solidFill>
                <a:schemeClr val="accent1"/>
              </a:solidFill>
              <a:latin typeface="Roboto"/>
              <a:ea typeface="Roboto"/>
              <a:cs typeface="Roboto"/>
              <a:sym typeface="Roboto"/>
            </a:endParaRPr>
          </a:p>
        </p:txBody>
      </p:sp>
      <p:sp>
        <p:nvSpPr>
          <p:cNvPr id="105" name="Google Shape;105;p2"/>
          <p:cNvSpPr txBox="1"/>
          <p:nvPr/>
        </p:nvSpPr>
        <p:spPr>
          <a:xfrm>
            <a:off x="5854058" y="2252387"/>
            <a:ext cx="6835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Roboto"/>
                <a:ea typeface="Roboto"/>
                <a:cs typeface="Roboto"/>
                <a:sym typeface="Roboto"/>
              </a:rPr>
              <a:t>II</a:t>
            </a:r>
            <a:endParaRPr b="0" i="0" sz="2400" u="none" cap="none" strike="noStrike">
              <a:solidFill>
                <a:schemeClr val="accent1"/>
              </a:solidFill>
              <a:latin typeface="Roboto"/>
              <a:ea typeface="Roboto"/>
              <a:cs typeface="Roboto"/>
              <a:sym typeface="Roboto"/>
            </a:endParaRPr>
          </a:p>
        </p:txBody>
      </p:sp>
      <p:sp>
        <p:nvSpPr>
          <p:cNvPr id="106" name="Google Shape;106;p2"/>
          <p:cNvSpPr txBox="1"/>
          <p:nvPr/>
        </p:nvSpPr>
        <p:spPr>
          <a:xfrm>
            <a:off x="5854058" y="3198166"/>
            <a:ext cx="6835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Roboto"/>
                <a:ea typeface="Roboto"/>
                <a:cs typeface="Roboto"/>
                <a:sym typeface="Roboto"/>
              </a:rPr>
              <a:t>III</a:t>
            </a:r>
            <a:endParaRPr b="0" i="0" sz="2400" u="none" cap="none" strike="noStrike">
              <a:solidFill>
                <a:schemeClr val="accent1"/>
              </a:solidFill>
              <a:latin typeface="Roboto"/>
              <a:ea typeface="Roboto"/>
              <a:cs typeface="Roboto"/>
              <a:sym typeface="Roboto"/>
            </a:endParaRPr>
          </a:p>
        </p:txBody>
      </p:sp>
      <p:sp>
        <p:nvSpPr>
          <p:cNvPr id="107" name="Google Shape;107;p2"/>
          <p:cNvSpPr txBox="1"/>
          <p:nvPr/>
        </p:nvSpPr>
        <p:spPr>
          <a:xfrm>
            <a:off x="5854058" y="4143945"/>
            <a:ext cx="6835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Roboto"/>
                <a:ea typeface="Roboto"/>
                <a:cs typeface="Roboto"/>
                <a:sym typeface="Roboto"/>
              </a:rPr>
              <a:t>IV</a:t>
            </a:r>
            <a:endParaRPr b="0" i="0" sz="2400" u="none" cap="none" strike="noStrike">
              <a:solidFill>
                <a:schemeClr val="accent1"/>
              </a:solidFill>
              <a:latin typeface="Roboto"/>
              <a:ea typeface="Roboto"/>
              <a:cs typeface="Roboto"/>
              <a:sym typeface="Roboto"/>
            </a:endParaRPr>
          </a:p>
        </p:txBody>
      </p:sp>
      <p:sp>
        <p:nvSpPr>
          <p:cNvPr id="108" name="Google Shape;108;p2"/>
          <p:cNvSpPr txBox="1"/>
          <p:nvPr/>
        </p:nvSpPr>
        <p:spPr>
          <a:xfrm>
            <a:off x="5854058" y="5089725"/>
            <a:ext cx="6835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1"/>
                </a:solidFill>
                <a:latin typeface="Roboto"/>
                <a:ea typeface="Roboto"/>
                <a:cs typeface="Roboto"/>
                <a:sym typeface="Roboto"/>
              </a:rPr>
              <a:t>V</a:t>
            </a:r>
            <a:endParaRPr b="0" i="0" sz="2400" u="none" cap="none" strike="noStrike">
              <a:solidFill>
                <a:schemeClr val="accent1"/>
              </a:solidFill>
              <a:latin typeface="Roboto"/>
              <a:ea typeface="Roboto"/>
              <a:cs typeface="Roboto"/>
              <a:sym typeface="Roboto"/>
            </a:endParaRPr>
          </a:p>
        </p:txBody>
      </p:sp>
      <p:sp>
        <p:nvSpPr>
          <p:cNvPr id="109" name="Google Shape;109;p2"/>
          <p:cNvSpPr txBox="1"/>
          <p:nvPr/>
        </p:nvSpPr>
        <p:spPr>
          <a:xfrm>
            <a:off x="6715796" y="1306608"/>
            <a:ext cx="48888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Research Background</a:t>
            </a:r>
            <a:endParaRPr b="0" i="0" sz="2400" u="none" cap="none" strike="noStrike">
              <a:solidFill>
                <a:schemeClr val="dk1"/>
              </a:solidFill>
              <a:latin typeface="Roboto"/>
              <a:ea typeface="Roboto"/>
              <a:cs typeface="Roboto"/>
              <a:sym typeface="Roboto"/>
            </a:endParaRPr>
          </a:p>
        </p:txBody>
      </p:sp>
      <p:sp>
        <p:nvSpPr>
          <p:cNvPr id="110" name="Google Shape;110;p2"/>
          <p:cNvSpPr txBox="1"/>
          <p:nvPr/>
        </p:nvSpPr>
        <p:spPr>
          <a:xfrm>
            <a:off x="6715796" y="2252387"/>
            <a:ext cx="48888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Hypothesis &amp; Objectives</a:t>
            </a:r>
            <a:endParaRPr b="0" i="0" sz="2400" u="none" cap="none" strike="noStrike">
              <a:solidFill>
                <a:schemeClr val="dk1"/>
              </a:solidFill>
              <a:latin typeface="Roboto"/>
              <a:ea typeface="Roboto"/>
              <a:cs typeface="Roboto"/>
              <a:sym typeface="Roboto"/>
            </a:endParaRPr>
          </a:p>
        </p:txBody>
      </p:sp>
      <p:sp>
        <p:nvSpPr>
          <p:cNvPr id="111" name="Google Shape;111;p2"/>
          <p:cNvSpPr txBox="1"/>
          <p:nvPr/>
        </p:nvSpPr>
        <p:spPr>
          <a:xfrm>
            <a:off x="6715796" y="3198166"/>
            <a:ext cx="48888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Methodology</a:t>
            </a:r>
            <a:endParaRPr b="0" i="0" sz="2400" u="none" cap="none" strike="noStrike">
              <a:solidFill>
                <a:schemeClr val="dk1"/>
              </a:solidFill>
              <a:latin typeface="Roboto"/>
              <a:ea typeface="Roboto"/>
              <a:cs typeface="Roboto"/>
              <a:sym typeface="Roboto"/>
            </a:endParaRPr>
          </a:p>
        </p:txBody>
      </p:sp>
      <p:sp>
        <p:nvSpPr>
          <p:cNvPr id="112" name="Google Shape;112;p2"/>
          <p:cNvSpPr txBox="1"/>
          <p:nvPr/>
        </p:nvSpPr>
        <p:spPr>
          <a:xfrm>
            <a:off x="6715796" y="4143945"/>
            <a:ext cx="48888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Results</a:t>
            </a:r>
            <a:endParaRPr b="0" i="0" sz="2400" u="none" cap="none" strike="noStrike">
              <a:solidFill>
                <a:schemeClr val="dk1"/>
              </a:solidFill>
              <a:latin typeface="Roboto"/>
              <a:ea typeface="Roboto"/>
              <a:cs typeface="Roboto"/>
              <a:sym typeface="Roboto"/>
            </a:endParaRPr>
          </a:p>
        </p:txBody>
      </p:sp>
      <p:sp>
        <p:nvSpPr>
          <p:cNvPr id="113" name="Google Shape;113;p2"/>
          <p:cNvSpPr txBox="1"/>
          <p:nvPr/>
        </p:nvSpPr>
        <p:spPr>
          <a:xfrm>
            <a:off x="6715796" y="5089725"/>
            <a:ext cx="48888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Roboto"/>
                <a:ea typeface="Roboto"/>
                <a:cs typeface="Roboto"/>
                <a:sym typeface="Roboto"/>
              </a:rPr>
              <a:t>Conclusion &amp; Discussion</a:t>
            </a:r>
            <a:endParaRPr b="0" i="0" sz="2400" u="none" cap="none" strike="noStrike">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3"/>
          <p:cNvSpPr txBox="1"/>
          <p:nvPr/>
        </p:nvSpPr>
        <p:spPr>
          <a:xfrm>
            <a:off x="927615" y="1108428"/>
            <a:ext cx="10342245" cy="89553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Introduction</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927617" y="2106362"/>
            <a:ext cx="4787382" cy="42023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2200"/>
              </a:spcBef>
              <a:spcAft>
                <a:spcPts val="0"/>
              </a:spcAft>
              <a:buClr>
                <a:schemeClr val="dk1"/>
              </a:buClr>
              <a:buSzPts val="2000"/>
              <a:buFont typeface="Arial"/>
              <a:buChar char="•"/>
            </a:pPr>
            <a:r>
              <a:rPr lang="en-US" sz="2000">
                <a:solidFill>
                  <a:schemeClr val="dk1"/>
                </a:solidFill>
                <a:latin typeface="Roboto"/>
                <a:ea typeface="Roboto"/>
                <a:cs typeface="Roboto"/>
                <a:sym typeface="Roboto"/>
              </a:rPr>
              <a:t>Cells are simply complex computers that we’re slowly learning how to program</a:t>
            </a:r>
            <a:endParaRPr sz="2000">
              <a:solidFill>
                <a:schemeClr val="dk1"/>
              </a:solidFill>
              <a:latin typeface="Roboto"/>
              <a:ea typeface="Roboto"/>
              <a:cs typeface="Roboto"/>
              <a:sym typeface="Roboto"/>
            </a:endParaRPr>
          </a:p>
          <a:p>
            <a:pPr indent="-228600" lvl="0" marL="2286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DNA is the fundamental unit of life → One that we are now </a:t>
            </a:r>
            <a:r>
              <a:rPr lang="en-US" sz="2000">
                <a:solidFill>
                  <a:schemeClr val="dk1"/>
                </a:solidFill>
                <a:latin typeface="Roboto"/>
                <a:ea typeface="Roboto"/>
                <a:cs typeface="Roboto"/>
                <a:sym typeface="Roboto"/>
              </a:rPr>
              <a:t>slowly being able to write</a:t>
            </a:r>
            <a:endParaRPr sz="2000">
              <a:solidFill>
                <a:schemeClr val="dk1"/>
              </a:solidFill>
              <a:latin typeface="Roboto"/>
              <a:ea typeface="Roboto"/>
              <a:cs typeface="Roboto"/>
              <a:sym typeface="Roboto"/>
            </a:endParaRPr>
          </a:p>
          <a:p>
            <a:pPr indent="-228600" lvl="0" marL="2286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The experiment in this course is focused on producing a genetic device &amp; testing it via injecting it in a mammalian cell. </a:t>
            </a:r>
            <a:endParaRPr sz="2000">
              <a:solidFill>
                <a:schemeClr val="dk1"/>
              </a:solidFill>
              <a:latin typeface="Roboto"/>
              <a:ea typeface="Roboto"/>
              <a:cs typeface="Roboto"/>
              <a:sym typeface="Roboto"/>
            </a:endParaRPr>
          </a:p>
        </p:txBody>
      </p:sp>
      <p:sp>
        <p:nvSpPr>
          <p:cNvPr id="121" name="Google Shape;121;p3"/>
          <p:cNvSpPr txBox="1"/>
          <p:nvPr/>
        </p:nvSpPr>
        <p:spPr>
          <a:xfrm>
            <a:off x="587376" y="549275"/>
            <a:ext cx="340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a:t>
            </a:r>
            <a:endParaRPr b="0" i="0" sz="1400" u="none" cap="none" strike="noStrike">
              <a:solidFill>
                <a:schemeClr val="accent1"/>
              </a:solidFill>
              <a:latin typeface="Roboto"/>
              <a:ea typeface="Roboto"/>
              <a:cs typeface="Roboto"/>
              <a:sym typeface="Roboto"/>
            </a:endParaRPr>
          </a:p>
        </p:txBody>
      </p:sp>
      <p:sp>
        <p:nvSpPr>
          <p:cNvPr id="122" name="Google Shape;122;p3"/>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Research Background</a:t>
            </a:r>
            <a:endParaRPr b="0" i="0" sz="1400" u="none" cap="none" strike="noStrike">
              <a:solidFill>
                <a:schemeClr val="accent1"/>
              </a:solidFill>
              <a:latin typeface="Roboto"/>
              <a:ea typeface="Roboto"/>
              <a:cs typeface="Roboto"/>
              <a:sym typeface="Roboto"/>
            </a:endParaRPr>
          </a:p>
        </p:txBody>
      </p:sp>
      <p:pic>
        <p:nvPicPr>
          <p:cNvPr id="123" name="Google Shape;123;p3"/>
          <p:cNvPicPr preferRelativeResize="0"/>
          <p:nvPr/>
        </p:nvPicPr>
        <p:blipFill>
          <a:blip r:embed="rId3">
            <a:alphaModFix/>
          </a:blip>
          <a:stretch>
            <a:fillRect/>
          </a:stretch>
        </p:blipFill>
        <p:spPr>
          <a:xfrm>
            <a:off x="5867399" y="2156360"/>
            <a:ext cx="6172199" cy="32942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4"/>
          <p:cNvSpPr txBox="1"/>
          <p:nvPr/>
        </p:nvSpPr>
        <p:spPr>
          <a:xfrm>
            <a:off x="587376" y="549275"/>
            <a:ext cx="340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a:t>
            </a:r>
            <a:endParaRPr b="0" i="0" sz="1400" u="none" cap="none" strike="noStrike">
              <a:solidFill>
                <a:schemeClr val="accent1"/>
              </a:solidFill>
              <a:latin typeface="Roboto"/>
              <a:ea typeface="Roboto"/>
              <a:cs typeface="Roboto"/>
              <a:sym typeface="Roboto"/>
            </a:endParaRPr>
          </a:p>
        </p:txBody>
      </p:sp>
      <p:sp>
        <p:nvSpPr>
          <p:cNvPr id="130" name="Google Shape;130;p4"/>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Research Background</a:t>
            </a:r>
            <a:endParaRPr b="0" i="0" sz="1400" u="none" cap="none" strike="noStrike">
              <a:solidFill>
                <a:schemeClr val="accent1"/>
              </a:solidFill>
              <a:latin typeface="Roboto"/>
              <a:ea typeface="Roboto"/>
              <a:cs typeface="Roboto"/>
              <a:sym typeface="Roboto"/>
            </a:endParaRPr>
          </a:p>
        </p:txBody>
      </p:sp>
      <p:pic>
        <p:nvPicPr>
          <p:cNvPr id="131" name="Google Shape;131;p4"/>
          <p:cNvPicPr preferRelativeResize="0"/>
          <p:nvPr/>
        </p:nvPicPr>
        <p:blipFill>
          <a:blip r:embed="rId3">
            <a:alphaModFix/>
          </a:blip>
          <a:stretch>
            <a:fillRect/>
          </a:stretch>
        </p:blipFill>
        <p:spPr>
          <a:xfrm>
            <a:off x="7677051" y="512303"/>
            <a:ext cx="3927566" cy="4029847"/>
          </a:xfrm>
          <a:prstGeom prst="rect">
            <a:avLst/>
          </a:prstGeom>
          <a:noFill/>
          <a:ln>
            <a:noFill/>
          </a:ln>
        </p:spPr>
      </p:pic>
      <p:pic>
        <p:nvPicPr>
          <p:cNvPr id="132" name="Google Shape;132;p4"/>
          <p:cNvPicPr preferRelativeResize="0"/>
          <p:nvPr/>
        </p:nvPicPr>
        <p:blipFill>
          <a:blip r:embed="rId4">
            <a:alphaModFix/>
          </a:blip>
          <a:stretch>
            <a:fillRect/>
          </a:stretch>
        </p:blipFill>
        <p:spPr>
          <a:xfrm>
            <a:off x="466650" y="1185052"/>
            <a:ext cx="6667976" cy="2454909"/>
          </a:xfrm>
          <a:prstGeom prst="rect">
            <a:avLst/>
          </a:prstGeom>
          <a:noFill/>
          <a:ln>
            <a:noFill/>
          </a:ln>
        </p:spPr>
      </p:pic>
      <p:sp>
        <p:nvSpPr>
          <p:cNvPr id="133" name="Google Shape;133;p4"/>
          <p:cNvSpPr txBox="1"/>
          <p:nvPr/>
        </p:nvSpPr>
        <p:spPr>
          <a:xfrm>
            <a:off x="415925" y="4658275"/>
            <a:ext cx="10924800" cy="11499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rgbClr val="0F1231"/>
              </a:buClr>
              <a:buSzPts val="1900"/>
              <a:buFont typeface="Roboto"/>
              <a:buChar char="●"/>
            </a:pPr>
            <a:r>
              <a:rPr lang="en-US" sz="1900">
                <a:solidFill>
                  <a:srgbClr val="0F1231"/>
                </a:solidFill>
                <a:latin typeface="Roboto"/>
                <a:ea typeface="Roboto"/>
                <a:cs typeface="Roboto"/>
                <a:sym typeface="Roboto"/>
              </a:rPr>
              <a:t>A DNA plasmid consisting of crucially a promoter &amp; gene for both a subcellular tag &amp; fluorescent protein </a:t>
            </a:r>
            <a:endParaRPr sz="1900">
              <a:solidFill>
                <a:srgbClr val="0F1231"/>
              </a:solidFill>
              <a:latin typeface="Roboto"/>
              <a:ea typeface="Roboto"/>
              <a:cs typeface="Roboto"/>
              <a:sym typeface="Roboto"/>
            </a:endParaRPr>
          </a:p>
          <a:p>
            <a:pPr indent="-349250" lvl="0" marL="457200" rtl="0" algn="l">
              <a:lnSpc>
                <a:spcPct val="115000"/>
              </a:lnSpc>
              <a:spcBef>
                <a:spcPts val="0"/>
              </a:spcBef>
              <a:spcAft>
                <a:spcPts val="0"/>
              </a:spcAft>
              <a:buClr>
                <a:srgbClr val="0F1231"/>
              </a:buClr>
              <a:buSzPts val="1900"/>
              <a:buFont typeface="Roboto"/>
              <a:buChar char="●"/>
            </a:pPr>
            <a:r>
              <a:rPr lang="en-US" sz="1900">
                <a:solidFill>
                  <a:srgbClr val="0F1231"/>
                </a:solidFill>
                <a:latin typeface="Roboto"/>
                <a:ea typeface="Roboto"/>
                <a:cs typeface="Roboto"/>
                <a:sym typeface="Roboto"/>
              </a:rPr>
              <a:t>The cell will produce the protein which will then tag a particular location (eg. the nucleus). </a:t>
            </a:r>
            <a:endParaRPr sz="1900">
              <a:solidFill>
                <a:srgbClr val="0F1231"/>
              </a:solidFill>
              <a:latin typeface="Roboto"/>
              <a:ea typeface="Roboto"/>
              <a:cs typeface="Roboto"/>
              <a:sym typeface="Roboto"/>
            </a:endParaRPr>
          </a:p>
        </p:txBody>
      </p:sp>
      <p:cxnSp>
        <p:nvCxnSpPr>
          <p:cNvPr id="134" name="Google Shape;134;p4"/>
          <p:cNvCxnSpPr>
            <a:stCxn id="132" idx="3"/>
          </p:cNvCxnSpPr>
          <p:nvPr/>
        </p:nvCxnSpPr>
        <p:spPr>
          <a:xfrm flipH="1" rot="10800000">
            <a:off x="7134626" y="2079507"/>
            <a:ext cx="2126400" cy="3330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pic>
        <p:nvPicPr>
          <p:cNvPr id="140" name="Google Shape;140;g38535d31bb4_0_34"/>
          <p:cNvPicPr preferRelativeResize="0"/>
          <p:nvPr/>
        </p:nvPicPr>
        <p:blipFill>
          <a:blip r:embed="rId3">
            <a:alphaModFix/>
          </a:blip>
          <a:stretch>
            <a:fillRect/>
          </a:stretch>
        </p:blipFill>
        <p:spPr>
          <a:xfrm>
            <a:off x="7810530" y="549274"/>
            <a:ext cx="3836568" cy="4029851"/>
          </a:xfrm>
          <a:prstGeom prst="rect">
            <a:avLst/>
          </a:prstGeom>
          <a:noFill/>
          <a:ln>
            <a:noFill/>
          </a:ln>
        </p:spPr>
      </p:pic>
      <p:sp>
        <p:nvSpPr>
          <p:cNvPr id="141" name="Google Shape;141;g38535d31bb4_0_34"/>
          <p:cNvSpPr txBox="1"/>
          <p:nvPr/>
        </p:nvSpPr>
        <p:spPr>
          <a:xfrm>
            <a:off x="587376" y="549275"/>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a:t>
            </a:r>
            <a:endParaRPr b="0" i="0" sz="1400" u="none" cap="none" strike="noStrike">
              <a:solidFill>
                <a:schemeClr val="accent1"/>
              </a:solidFill>
              <a:latin typeface="Roboto"/>
              <a:ea typeface="Roboto"/>
              <a:cs typeface="Roboto"/>
              <a:sym typeface="Roboto"/>
            </a:endParaRPr>
          </a:p>
        </p:txBody>
      </p:sp>
      <p:sp>
        <p:nvSpPr>
          <p:cNvPr id="142" name="Google Shape;142;g38535d31bb4_0_34"/>
          <p:cNvSpPr txBox="1"/>
          <p:nvPr/>
        </p:nvSpPr>
        <p:spPr>
          <a:xfrm>
            <a:off x="843555" y="549275"/>
            <a:ext cx="201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Research Background</a:t>
            </a:r>
            <a:endParaRPr b="0" i="0" sz="1400" u="none" cap="none" strike="noStrike">
              <a:solidFill>
                <a:schemeClr val="accent1"/>
              </a:solidFill>
              <a:latin typeface="Roboto"/>
              <a:ea typeface="Roboto"/>
              <a:cs typeface="Roboto"/>
              <a:sym typeface="Roboto"/>
            </a:endParaRPr>
          </a:p>
        </p:txBody>
      </p:sp>
      <p:pic>
        <p:nvPicPr>
          <p:cNvPr id="143" name="Google Shape;143;g38535d31bb4_0_34"/>
          <p:cNvPicPr preferRelativeResize="0"/>
          <p:nvPr/>
        </p:nvPicPr>
        <p:blipFill>
          <a:blip r:embed="rId4">
            <a:alphaModFix/>
          </a:blip>
          <a:stretch>
            <a:fillRect/>
          </a:stretch>
        </p:blipFill>
        <p:spPr>
          <a:xfrm>
            <a:off x="466650" y="1185052"/>
            <a:ext cx="6667976" cy="2454909"/>
          </a:xfrm>
          <a:prstGeom prst="rect">
            <a:avLst/>
          </a:prstGeom>
          <a:noFill/>
          <a:ln>
            <a:noFill/>
          </a:ln>
        </p:spPr>
      </p:pic>
      <p:sp>
        <p:nvSpPr>
          <p:cNvPr id="144" name="Google Shape;144;g38535d31bb4_0_34"/>
          <p:cNvSpPr txBox="1"/>
          <p:nvPr/>
        </p:nvSpPr>
        <p:spPr>
          <a:xfrm>
            <a:off x="415925" y="4658275"/>
            <a:ext cx="10924800" cy="18225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rgbClr val="0F1231"/>
              </a:buClr>
              <a:buSzPts val="1900"/>
              <a:buFont typeface="Roboto"/>
              <a:buChar char="●"/>
            </a:pPr>
            <a:r>
              <a:rPr lang="en-US" sz="1900">
                <a:solidFill>
                  <a:srgbClr val="0F1231"/>
                </a:solidFill>
                <a:latin typeface="Roboto"/>
                <a:ea typeface="Roboto"/>
                <a:cs typeface="Roboto"/>
                <a:sym typeface="Roboto"/>
              </a:rPr>
              <a:t>A DNA plasmid consisting of crucially a promoter &amp; gene for both a subcellular tag &amp; fluorescent protein </a:t>
            </a:r>
            <a:endParaRPr sz="1900">
              <a:solidFill>
                <a:srgbClr val="0F1231"/>
              </a:solidFill>
              <a:latin typeface="Roboto"/>
              <a:ea typeface="Roboto"/>
              <a:cs typeface="Roboto"/>
              <a:sym typeface="Roboto"/>
            </a:endParaRPr>
          </a:p>
          <a:p>
            <a:pPr indent="-349250" lvl="0" marL="457200" rtl="0" algn="l">
              <a:lnSpc>
                <a:spcPct val="115000"/>
              </a:lnSpc>
              <a:spcBef>
                <a:spcPts val="0"/>
              </a:spcBef>
              <a:spcAft>
                <a:spcPts val="0"/>
              </a:spcAft>
              <a:buClr>
                <a:srgbClr val="0F1231"/>
              </a:buClr>
              <a:buSzPts val="1900"/>
              <a:buFont typeface="Roboto"/>
              <a:buChar char="●"/>
            </a:pPr>
            <a:r>
              <a:rPr lang="en-US" sz="1900">
                <a:solidFill>
                  <a:srgbClr val="0F1231"/>
                </a:solidFill>
                <a:latin typeface="Roboto"/>
                <a:ea typeface="Roboto"/>
                <a:cs typeface="Roboto"/>
                <a:sym typeface="Roboto"/>
              </a:rPr>
              <a:t>The cell will produce the protein which will then tag a particular location (eg. the nucleus). </a:t>
            </a:r>
            <a:endParaRPr sz="1900">
              <a:solidFill>
                <a:srgbClr val="0F1231"/>
              </a:solidFill>
              <a:latin typeface="Roboto"/>
              <a:ea typeface="Roboto"/>
              <a:cs typeface="Roboto"/>
              <a:sym typeface="Roboto"/>
            </a:endParaRPr>
          </a:p>
          <a:p>
            <a:pPr indent="-349250" lvl="0" marL="457200" rtl="0" algn="l">
              <a:lnSpc>
                <a:spcPct val="115000"/>
              </a:lnSpc>
              <a:spcBef>
                <a:spcPts val="0"/>
              </a:spcBef>
              <a:spcAft>
                <a:spcPts val="0"/>
              </a:spcAft>
              <a:buClr>
                <a:srgbClr val="0F1231"/>
              </a:buClr>
              <a:buSzPts val="1900"/>
              <a:buFont typeface="Roboto"/>
              <a:buChar char="●"/>
            </a:pPr>
            <a:r>
              <a:rPr lang="en-US" sz="1900">
                <a:solidFill>
                  <a:srgbClr val="0F1231"/>
                </a:solidFill>
                <a:latin typeface="Roboto"/>
                <a:ea typeface="Roboto"/>
                <a:cs typeface="Roboto"/>
                <a:sym typeface="Roboto"/>
              </a:rPr>
              <a:t>By changing the constitutively active promoter we can identify if it changes expression (eg. increases production so brighter fluorescence) </a:t>
            </a:r>
            <a:endParaRPr sz="1900">
              <a:solidFill>
                <a:srgbClr val="0F1231"/>
              </a:solidFill>
              <a:latin typeface="Roboto"/>
              <a:ea typeface="Roboto"/>
              <a:cs typeface="Roboto"/>
              <a:sym typeface="Roboto"/>
            </a:endParaRPr>
          </a:p>
        </p:txBody>
      </p:sp>
      <p:pic>
        <p:nvPicPr>
          <p:cNvPr id="145" name="Google Shape;145;g38535d31bb4_0_34"/>
          <p:cNvPicPr preferRelativeResize="0"/>
          <p:nvPr/>
        </p:nvPicPr>
        <p:blipFill rotWithShape="1">
          <a:blip r:embed="rId5">
            <a:alphaModFix/>
          </a:blip>
          <a:srcRect b="0" l="0" r="67632" t="0"/>
          <a:stretch/>
        </p:blipFill>
        <p:spPr>
          <a:xfrm>
            <a:off x="508350" y="1185050"/>
            <a:ext cx="2116552" cy="2340451"/>
          </a:xfrm>
          <a:prstGeom prst="rect">
            <a:avLst/>
          </a:prstGeom>
          <a:noFill/>
          <a:ln>
            <a:noFill/>
          </a:ln>
        </p:spPr>
      </p:pic>
      <p:cxnSp>
        <p:nvCxnSpPr>
          <p:cNvPr id="146" name="Google Shape;146;g38535d31bb4_0_34"/>
          <p:cNvCxnSpPr/>
          <p:nvPr/>
        </p:nvCxnSpPr>
        <p:spPr>
          <a:xfrm flipH="1" rot="10800000">
            <a:off x="7134626" y="2079507"/>
            <a:ext cx="2126400" cy="333000"/>
          </a:xfrm>
          <a:prstGeom prst="straightConnector1">
            <a:avLst/>
          </a:prstGeom>
          <a:noFill/>
          <a:ln cap="flat" cmpd="sng" w="28575">
            <a:solidFill>
              <a:schemeClr val="dk2"/>
            </a:solidFill>
            <a:prstDash val="solid"/>
            <a:round/>
            <a:headEnd len="med" w="med" type="none"/>
            <a:tailEnd len="med" w="med" type="triangle"/>
          </a:ln>
        </p:spPr>
      </p:cxnSp>
      <p:pic>
        <p:nvPicPr>
          <p:cNvPr id="147" name="Google Shape;147;g38535d31bb4_0_34"/>
          <p:cNvPicPr preferRelativeResize="0"/>
          <p:nvPr/>
        </p:nvPicPr>
        <p:blipFill rotWithShape="1">
          <a:blip r:embed="rId4">
            <a:alphaModFix/>
          </a:blip>
          <a:srcRect b="0" l="75685" r="0" t="0"/>
          <a:stretch/>
        </p:blipFill>
        <p:spPr>
          <a:xfrm>
            <a:off x="5573250" y="246875"/>
            <a:ext cx="1430277" cy="2165626"/>
          </a:xfrm>
          <a:prstGeom prst="rect">
            <a:avLst/>
          </a:prstGeom>
          <a:noFill/>
          <a:ln>
            <a:noFill/>
          </a:ln>
        </p:spPr>
      </p:pic>
      <p:pic>
        <p:nvPicPr>
          <p:cNvPr id="148" name="Google Shape;148;g38535d31bb4_0_34"/>
          <p:cNvPicPr preferRelativeResize="0"/>
          <p:nvPr/>
        </p:nvPicPr>
        <p:blipFill rotWithShape="1">
          <a:blip r:embed="rId4">
            <a:alphaModFix/>
          </a:blip>
          <a:srcRect b="0" l="75685" r="0" t="0"/>
          <a:stretch/>
        </p:blipFill>
        <p:spPr>
          <a:xfrm>
            <a:off x="5573250" y="2346187"/>
            <a:ext cx="1430277" cy="2165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g38535d31bb4_0_7"/>
          <p:cNvSpPr txBox="1"/>
          <p:nvPr/>
        </p:nvSpPr>
        <p:spPr>
          <a:xfrm>
            <a:off x="587376" y="549275"/>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a:t>
            </a:r>
            <a:endParaRPr b="0" i="0" sz="1400" u="none" cap="none" strike="noStrike">
              <a:solidFill>
                <a:schemeClr val="accent1"/>
              </a:solidFill>
              <a:latin typeface="Roboto"/>
              <a:ea typeface="Roboto"/>
              <a:cs typeface="Roboto"/>
              <a:sym typeface="Roboto"/>
            </a:endParaRPr>
          </a:p>
        </p:txBody>
      </p:sp>
      <p:sp>
        <p:nvSpPr>
          <p:cNvPr id="155" name="Google Shape;155;g38535d31bb4_0_7"/>
          <p:cNvSpPr txBox="1"/>
          <p:nvPr/>
        </p:nvSpPr>
        <p:spPr>
          <a:xfrm>
            <a:off x="843555" y="549275"/>
            <a:ext cx="201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Research Background</a:t>
            </a:r>
            <a:endParaRPr b="0" i="0" sz="1400" u="none" cap="none" strike="noStrike">
              <a:solidFill>
                <a:schemeClr val="accent1"/>
              </a:solidFill>
              <a:latin typeface="Roboto"/>
              <a:ea typeface="Roboto"/>
              <a:cs typeface="Roboto"/>
              <a:sym typeface="Roboto"/>
            </a:endParaRPr>
          </a:p>
        </p:txBody>
      </p:sp>
      <p:sp>
        <p:nvSpPr>
          <p:cNvPr id="156" name="Google Shape;156;g38535d31bb4_0_7"/>
          <p:cNvSpPr/>
          <p:nvPr/>
        </p:nvSpPr>
        <p:spPr>
          <a:xfrm>
            <a:off x="5640250" y="568500"/>
            <a:ext cx="6146400" cy="5721000"/>
          </a:xfrm>
          <a:prstGeom prst="ellipse">
            <a:avLst/>
          </a:prstGeom>
          <a:solidFill>
            <a:srgbClr val="D9D2E9"/>
          </a:solidFill>
          <a:ln>
            <a:noFill/>
          </a:ln>
        </p:spPr>
        <p:txBody>
          <a:bodyPr anchorCtr="0" anchor="ctr" bIns="77500" lIns="77500" spcFirstLastPara="1" rIns="77500" wrap="square" tIns="77500">
            <a:noAutofit/>
          </a:bodyPr>
          <a:lstStyle/>
          <a:p>
            <a:pPr indent="0" lvl="0" marL="0" rtl="0" algn="ctr">
              <a:spcBef>
                <a:spcPts val="0"/>
              </a:spcBef>
              <a:spcAft>
                <a:spcPts val="0"/>
              </a:spcAft>
              <a:buNone/>
            </a:pPr>
            <a:r>
              <a:t/>
            </a:r>
            <a:endParaRPr sz="1186"/>
          </a:p>
        </p:txBody>
      </p:sp>
      <p:pic>
        <p:nvPicPr>
          <p:cNvPr id="157" name="Google Shape;157;g38535d31bb4_0_7"/>
          <p:cNvPicPr preferRelativeResize="0"/>
          <p:nvPr/>
        </p:nvPicPr>
        <p:blipFill>
          <a:blip r:embed="rId3">
            <a:alphaModFix/>
          </a:blip>
          <a:stretch>
            <a:fillRect/>
          </a:stretch>
        </p:blipFill>
        <p:spPr>
          <a:xfrm>
            <a:off x="5806750" y="685263"/>
            <a:ext cx="5813400" cy="5413200"/>
          </a:xfrm>
          <a:prstGeom prst="ellipse">
            <a:avLst/>
          </a:prstGeom>
          <a:noFill/>
          <a:ln>
            <a:noFill/>
          </a:ln>
        </p:spPr>
      </p:pic>
      <p:sp>
        <p:nvSpPr>
          <p:cNvPr id="158" name="Google Shape;158;g38535d31bb4_0_7"/>
          <p:cNvSpPr txBox="1"/>
          <p:nvPr/>
        </p:nvSpPr>
        <p:spPr>
          <a:xfrm>
            <a:off x="268050" y="2685900"/>
            <a:ext cx="5055600" cy="148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900">
                <a:solidFill>
                  <a:srgbClr val="0F1231"/>
                </a:solidFill>
                <a:latin typeface="Roboto"/>
                <a:ea typeface="Roboto"/>
                <a:cs typeface="Roboto"/>
                <a:sym typeface="Roboto"/>
              </a:rPr>
              <a:t>The end goal is to create a catalog of genetic devices where each device </a:t>
            </a:r>
            <a:r>
              <a:rPr b="1" lang="en-US" sz="1900">
                <a:solidFill>
                  <a:srgbClr val="0F1231"/>
                </a:solidFill>
                <a:latin typeface="Roboto"/>
                <a:ea typeface="Roboto"/>
                <a:cs typeface="Roboto"/>
                <a:sym typeface="Roboto"/>
              </a:rPr>
              <a:t>uniquely tags a subcellular region with a unique colour</a:t>
            </a:r>
            <a:r>
              <a:rPr lang="en-US" sz="1900">
                <a:solidFill>
                  <a:srgbClr val="0F1231"/>
                </a:solidFill>
                <a:latin typeface="Roboto"/>
                <a:ea typeface="Roboto"/>
                <a:cs typeface="Roboto"/>
                <a:sym typeface="Roboto"/>
              </a:rPr>
              <a:t> → a cellular </a:t>
            </a:r>
            <a:r>
              <a:rPr lang="en-US" sz="1900">
                <a:solidFill>
                  <a:srgbClr val="0F1231"/>
                </a:solidFill>
                <a:latin typeface="Roboto"/>
                <a:ea typeface="Roboto"/>
                <a:cs typeface="Roboto"/>
                <a:sym typeface="Roboto"/>
              </a:rPr>
              <a:t>painting</a:t>
            </a:r>
            <a:r>
              <a:rPr lang="en-US" sz="1900">
                <a:solidFill>
                  <a:srgbClr val="0F1231"/>
                </a:solidFill>
                <a:latin typeface="Roboto"/>
                <a:ea typeface="Roboto"/>
                <a:cs typeface="Roboto"/>
                <a:sym typeface="Roboto"/>
              </a:rPr>
              <a:t> in other words. </a:t>
            </a:r>
            <a:endParaRPr sz="1900">
              <a:solidFill>
                <a:srgbClr val="0F123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5"/>
          <p:cNvSpPr txBox="1"/>
          <p:nvPr>
            <p:ph type="title"/>
          </p:nvPr>
        </p:nvSpPr>
        <p:spPr>
          <a:xfrm>
            <a:off x="985359" y="1233600"/>
            <a:ext cx="10221300" cy="8955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2"/>
              </a:buClr>
              <a:buSzPts val="3200"/>
              <a:buFont typeface="Roboto Medium"/>
              <a:buNone/>
            </a:pPr>
            <a:r>
              <a:rPr b="1" lang="en-US" sz="6000">
                <a:solidFill>
                  <a:schemeClr val="dk2"/>
                </a:solidFill>
                <a:latin typeface="Roboto Medium"/>
                <a:ea typeface="Roboto Medium"/>
                <a:cs typeface="Roboto Medium"/>
                <a:sym typeface="Roboto Medium"/>
              </a:rPr>
              <a:t>Central Question</a:t>
            </a:r>
            <a:endParaRPr sz="6000"/>
          </a:p>
        </p:txBody>
      </p:sp>
      <p:sp>
        <p:nvSpPr>
          <p:cNvPr id="165" name="Google Shape;165;p5"/>
          <p:cNvSpPr txBox="1"/>
          <p:nvPr/>
        </p:nvSpPr>
        <p:spPr>
          <a:xfrm>
            <a:off x="1229850" y="2231925"/>
            <a:ext cx="9732300" cy="22413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lang="en-US" sz="3000">
                <a:solidFill>
                  <a:schemeClr val="dk1"/>
                </a:solidFill>
                <a:latin typeface="Roboto"/>
                <a:ea typeface="Roboto"/>
                <a:cs typeface="Roboto"/>
                <a:sym typeface="Roboto"/>
              </a:rPr>
              <a:t>How do </a:t>
            </a:r>
            <a:r>
              <a:rPr b="1" lang="en-US" sz="3000">
                <a:solidFill>
                  <a:schemeClr val="dk1"/>
                </a:solidFill>
                <a:latin typeface="Roboto"/>
                <a:ea typeface="Roboto"/>
                <a:cs typeface="Roboto"/>
                <a:sym typeface="Roboto"/>
              </a:rPr>
              <a:t>different constitutively active </a:t>
            </a:r>
            <a:r>
              <a:rPr b="1" lang="en-US" sz="3000">
                <a:solidFill>
                  <a:schemeClr val="accent1"/>
                </a:solidFill>
                <a:latin typeface="Roboto"/>
                <a:ea typeface="Roboto"/>
                <a:cs typeface="Roboto"/>
                <a:sym typeface="Roboto"/>
              </a:rPr>
              <a:t>promoters</a:t>
            </a:r>
            <a:r>
              <a:rPr lang="en-US" sz="3000">
                <a:solidFill>
                  <a:schemeClr val="dk1"/>
                </a:solidFill>
                <a:latin typeface="Roboto"/>
                <a:ea typeface="Roboto"/>
                <a:cs typeface="Roboto"/>
                <a:sym typeface="Roboto"/>
              </a:rPr>
              <a:t> impact the level of expression of our protein of interest?</a:t>
            </a:r>
            <a:endParaRPr b="0" i="0" sz="3000" u="none" cap="none" strike="noStrike">
              <a:solidFill>
                <a:schemeClr val="dk1"/>
              </a:solidFill>
              <a:latin typeface="Roboto"/>
              <a:ea typeface="Roboto"/>
              <a:cs typeface="Roboto"/>
              <a:sym typeface="Roboto"/>
            </a:endParaRPr>
          </a:p>
        </p:txBody>
      </p:sp>
      <p:sp>
        <p:nvSpPr>
          <p:cNvPr id="166" name="Google Shape;166;p5"/>
          <p:cNvSpPr txBox="1"/>
          <p:nvPr/>
        </p:nvSpPr>
        <p:spPr>
          <a:xfrm>
            <a:off x="587376" y="549275"/>
            <a:ext cx="340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II</a:t>
            </a:r>
            <a:endParaRPr b="0" i="0" sz="1400" u="none" cap="none" strike="noStrike">
              <a:solidFill>
                <a:schemeClr val="accent1"/>
              </a:solidFill>
              <a:latin typeface="Roboto"/>
              <a:ea typeface="Roboto"/>
              <a:cs typeface="Roboto"/>
              <a:sym typeface="Roboto"/>
            </a:endParaRPr>
          </a:p>
        </p:txBody>
      </p:sp>
      <p:sp>
        <p:nvSpPr>
          <p:cNvPr id="167" name="Google Shape;167;p5"/>
          <p:cNvSpPr txBox="1"/>
          <p:nvPr/>
        </p:nvSpPr>
        <p:spPr>
          <a:xfrm>
            <a:off x="843555" y="549275"/>
            <a:ext cx="21388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1"/>
                </a:solidFill>
                <a:latin typeface="Roboto"/>
                <a:ea typeface="Roboto"/>
                <a:cs typeface="Roboto"/>
                <a:sym typeface="Roboto"/>
              </a:rPr>
              <a:t>Hypothesis &amp; Objectives</a:t>
            </a:r>
            <a:endParaRPr b="0" i="0" sz="1400" u="none" cap="none" strike="noStrike">
              <a:solidFill>
                <a:schemeClr val="accen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g37993de5706_0_5"/>
          <p:cNvSpPr txBox="1"/>
          <p:nvPr/>
        </p:nvSpPr>
        <p:spPr>
          <a:xfrm>
            <a:off x="3702299" y="774703"/>
            <a:ext cx="47874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3200"/>
              <a:buFont typeface="Roboto Medium"/>
              <a:buNone/>
            </a:pPr>
            <a:r>
              <a:rPr b="1" lang="en-US" sz="6000">
                <a:solidFill>
                  <a:schemeClr val="dk2"/>
                </a:solidFill>
                <a:latin typeface="Roboto Medium"/>
                <a:ea typeface="Roboto Medium"/>
                <a:cs typeface="Roboto Medium"/>
                <a:sym typeface="Roboto Medium"/>
              </a:rPr>
              <a:t>Hypothesis</a:t>
            </a:r>
            <a:endParaRPr b="0" i="0" sz="6000" u="none" cap="none" strike="noStrike">
              <a:solidFill>
                <a:srgbClr val="000000"/>
              </a:solidFill>
              <a:latin typeface="Arial"/>
              <a:ea typeface="Arial"/>
              <a:cs typeface="Arial"/>
              <a:sym typeface="Arial"/>
            </a:endParaRPr>
          </a:p>
        </p:txBody>
      </p:sp>
      <p:sp>
        <p:nvSpPr>
          <p:cNvPr id="174" name="Google Shape;174;g37993de5706_0_5"/>
          <p:cNvSpPr txBox="1"/>
          <p:nvPr/>
        </p:nvSpPr>
        <p:spPr>
          <a:xfrm>
            <a:off x="587376" y="549275"/>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II</a:t>
            </a:r>
            <a:endParaRPr b="0" i="0" sz="1400" u="none" cap="none" strike="noStrike">
              <a:solidFill>
                <a:schemeClr val="accent1"/>
              </a:solidFill>
              <a:latin typeface="Roboto"/>
              <a:ea typeface="Roboto"/>
              <a:cs typeface="Roboto"/>
              <a:sym typeface="Roboto"/>
            </a:endParaRPr>
          </a:p>
        </p:txBody>
      </p:sp>
      <p:sp>
        <p:nvSpPr>
          <p:cNvPr id="175" name="Google Shape;175;g37993de5706_0_5"/>
          <p:cNvSpPr txBox="1"/>
          <p:nvPr/>
        </p:nvSpPr>
        <p:spPr>
          <a:xfrm>
            <a:off x="843555" y="549275"/>
            <a:ext cx="2139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1"/>
                </a:solidFill>
                <a:latin typeface="Roboto"/>
                <a:ea typeface="Roboto"/>
                <a:cs typeface="Roboto"/>
                <a:sym typeface="Roboto"/>
              </a:rPr>
              <a:t>Hypothesis &amp; Objectives</a:t>
            </a:r>
            <a:endParaRPr b="0" i="0" sz="1400" u="none" cap="none" strike="noStrike">
              <a:solidFill>
                <a:schemeClr val="accent1"/>
              </a:solidFill>
              <a:latin typeface="Roboto"/>
              <a:ea typeface="Roboto"/>
              <a:cs typeface="Roboto"/>
              <a:sym typeface="Roboto"/>
            </a:endParaRPr>
          </a:p>
        </p:txBody>
      </p:sp>
      <p:grpSp>
        <p:nvGrpSpPr>
          <p:cNvPr id="176" name="Google Shape;176;g37993de5706_0_5"/>
          <p:cNvGrpSpPr/>
          <p:nvPr/>
        </p:nvGrpSpPr>
        <p:grpSpPr>
          <a:xfrm>
            <a:off x="587375" y="3179975"/>
            <a:ext cx="4028125" cy="3224388"/>
            <a:chOff x="587375" y="3179975"/>
            <a:chExt cx="4028125" cy="3224388"/>
          </a:xfrm>
        </p:grpSpPr>
        <p:pic>
          <p:nvPicPr>
            <p:cNvPr id="177" name="Google Shape;177;g37993de5706_0_5"/>
            <p:cNvPicPr preferRelativeResize="0"/>
            <p:nvPr/>
          </p:nvPicPr>
          <p:blipFill rotWithShape="1">
            <a:blip r:embed="rId3">
              <a:alphaModFix/>
            </a:blip>
            <a:srcRect b="0" l="0" r="69081" t="0"/>
            <a:stretch/>
          </p:blipFill>
          <p:spPr>
            <a:xfrm>
              <a:off x="587375" y="3179988"/>
              <a:ext cx="1672749" cy="3224375"/>
            </a:xfrm>
            <a:prstGeom prst="rect">
              <a:avLst/>
            </a:prstGeom>
            <a:noFill/>
            <a:ln>
              <a:noFill/>
            </a:ln>
          </p:spPr>
        </p:pic>
        <p:pic>
          <p:nvPicPr>
            <p:cNvPr id="178" name="Google Shape;178;g37993de5706_0_5"/>
            <p:cNvPicPr preferRelativeResize="0"/>
            <p:nvPr/>
          </p:nvPicPr>
          <p:blipFill rotWithShape="1">
            <a:blip r:embed="rId3">
              <a:alphaModFix/>
            </a:blip>
            <a:srcRect b="0" l="40035" r="37099" t="0"/>
            <a:stretch/>
          </p:blipFill>
          <p:spPr>
            <a:xfrm>
              <a:off x="2260125" y="3179988"/>
              <a:ext cx="1237074" cy="3224375"/>
            </a:xfrm>
            <a:prstGeom prst="rect">
              <a:avLst/>
            </a:prstGeom>
            <a:noFill/>
            <a:ln>
              <a:noFill/>
            </a:ln>
          </p:spPr>
        </p:pic>
        <p:pic>
          <p:nvPicPr>
            <p:cNvPr id="179" name="Google Shape;179;g37993de5706_0_5"/>
            <p:cNvPicPr preferRelativeResize="0"/>
            <p:nvPr/>
          </p:nvPicPr>
          <p:blipFill rotWithShape="1">
            <a:blip r:embed="rId3">
              <a:alphaModFix/>
            </a:blip>
            <a:srcRect b="0" l="79329" r="0" t="0"/>
            <a:stretch/>
          </p:blipFill>
          <p:spPr>
            <a:xfrm>
              <a:off x="3497200" y="3179975"/>
              <a:ext cx="1118300" cy="3224375"/>
            </a:xfrm>
            <a:prstGeom prst="rect">
              <a:avLst/>
            </a:prstGeom>
            <a:noFill/>
            <a:ln>
              <a:noFill/>
            </a:ln>
          </p:spPr>
        </p:pic>
      </p:grpSp>
      <p:sp>
        <p:nvSpPr>
          <p:cNvPr id="180" name="Google Shape;180;g37993de5706_0_5"/>
          <p:cNvSpPr txBox="1"/>
          <p:nvPr/>
        </p:nvSpPr>
        <p:spPr>
          <a:xfrm>
            <a:off x="1000000" y="6308725"/>
            <a:ext cx="793800" cy="428700"/>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b="1" lang="en-US" sz="1500">
                <a:solidFill>
                  <a:srgbClr val="38761D"/>
                </a:solidFill>
                <a:latin typeface="Roboto"/>
                <a:ea typeface="Roboto"/>
                <a:cs typeface="Roboto"/>
                <a:sym typeface="Roboto"/>
              </a:rPr>
              <a:t>CAG</a:t>
            </a:r>
            <a:endParaRPr b="1" i="0" sz="1500" u="none" cap="none" strike="noStrike">
              <a:solidFill>
                <a:srgbClr val="38761D"/>
              </a:solidFill>
              <a:latin typeface="Roboto"/>
              <a:ea typeface="Roboto"/>
              <a:cs typeface="Roboto"/>
              <a:sym typeface="Roboto"/>
            </a:endParaRPr>
          </a:p>
        </p:txBody>
      </p:sp>
      <p:sp>
        <p:nvSpPr>
          <p:cNvPr id="181" name="Google Shape;181;g37993de5706_0_5"/>
          <p:cNvSpPr txBox="1"/>
          <p:nvPr/>
        </p:nvSpPr>
        <p:spPr>
          <a:xfrm>
            <a:off x="2414350" y="6308725"/>
            <a:ext cx="793800" cy="428700"/>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b="1" lang="en-US" sz="1500">
                <a:solidFill>
                  <a:srgbClr val="3C78D8"/>
                </a:solidFill>
                <a:latin typeface="Roboto"/>
                <a:ea typeface="Roboto"/>
                <a:cs typeface="Roboto"/>
                <a:sym typeface="Roboto"/>
              </a:rPr>
              <a:t>hEF1a</a:t>
            </a:r>
            <a:endParaRPr b="1" i="0" sz="1500" u="none" cap="none" strike="noStrike">
              <a:solidFill>
                <a:srgbClr val="3C78D8"/>
              </a:solidFill>
              <a:latin typeface="Roboto"/>
              <a:ea typeface="Roboto"/>
              <a:cs typeface="Roboto"/>
              <a:sym typeface="Roboto"/>
            </a:endParaRPr>
          </a:p>
        </p:txBody>
      </p:sp>
      <p:sp>
        <p:nvSpPr>
          <p:cNvPr id="182" name="Google Shape;182;g37993de5706_0_5"/>
          <p:cNvSpPr txBox="1"/>
          <p:nvPr/>
        </p:nvSpPr>
        <p:spPr>
          <a:xfrm>
            <a:off x="3639725" y="6308725"/>
            <a:ext cx="793800" cy="428700"/>
          </a:xfrm>
          <a:prstGeom prst="rect">
            <a:avLst/>
          </a:prstGeom>
          <a:solidFill>
            <a:schemeClr val="lt1"/>
          </a:solidFill>
          <a:ln>
            <a:noFill/>
          </a:ln>
        </p:spPr>
        <p:txBody>
          <a:bodyPr anchorCtr="0" anchor="ctr" bIns="45700" lIns="91425" spcFirstLastPara="1" rIns="91425" wrap="square" tIns="45700">
            <a:normAutofit fontScale="92500"/>
          </a:bodyPr>
          <a:lstStyle/>
          <a:p>
            <a:pPr indent="0" lvl="0" marL="0" marR="0" rtl="0" algn="ctr">
              <a:lnSpc>
                <a:spcPct val="100000"/>
              </a:lnSpc>
              <a:spcBef>
                <a:spcPts val="2200"/>
              </a:spcBef>
              <a:spcAft>
                <a:spcPts val="0"/>
              </a:spcAft>
              <a:buNone/>
            </a:pPr>
            <a:r>
              <a:rPr b="1" lang="en-US" sz="1500">
                <a:solidFill>
                  <a:srgbClr val="674EA7"/>
                </a:solidFill>
                <a:latin typeface="Roboto"/>
                <a:ea typeface="Roboto"/>
                <a:cs typeface="Roboto"/>
                <a:sym typeface="Roboto"/>
              </a:rPr>
              <a:t>MNDU3</a:t>
            </a:r>
            <a:endParaRPr b="1" i="0" sz="1500" u="none" cap="none" strike="noStrike">
              <a:solidFill>
                <a:srgbClr val="674EA7"/>
              </a:solidFill>
              <a:latin typeface="Roboto"/>
              <a:ea typeface="Roboto"/>
              <a:cs typeface="Roboto"/>
              <a:sym typeface="Roboto"/>
            </a:endParaRPr>
          </a:p>
        </p:txBody>
      </p:sp>
      <p:sp>
        <p:nvSpPr>
          <p:cNvPr id="183" name="Google Shape;183;g37993de5706_0_5"/>
          <p:cNvSpPr txBox="1"/>
          <p:nvPr/>
        </p:nvSpPr>
        <p:spPr>
          <a:xfrm>
            <a:off x="908550" y="1628475"/>
            <a:ext cx="10374900" cy="1396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lang="en-US" sz="2500">
                <a:solidFill>
                  <a:schemeClr val="dk1"/>
                </a:solidFill>
                <a:latin typeface="Roboto"/>
                <a:ea typeface="Roboto"/>
                <a:cs typeface="Roboto"/>
                <a:sym typeface="Roboto"/>
              </a:rPr>
              <a:t>Using </a:t>
            </a:r>
            <a:r>
              <a:rPr i="1" lang="en-US" sz="2500">
                <a:solidFill>
                  <a:schemeClr val="dk1"/>
                </a:solidFill>
                <a:latin typeface="Roboto"/>
                <a:ea typeface="Roboto"/>
                <a:cs typeface="Roboto"/>
                <a:sym typeface="Roboto"/>
              </a:rPr>
              <a:t>Enformer</a:t>
            </a:r>
            <a:r>
              <a:rPr lang="en-US" sz="2500">
                <a:solidFill>
                  <a:schemeClr val="dk1"/>
                </a:solidFill>
                <a:latin typeface="Roboto"/>
                <a:ea typeface="Roboto"/>
                <a:cs typeface="Roboto"/>
                <a:sym typeface="Roboto"/>
              </a:rPr>
              <a:t>, I hypothesize that CAG will lead to the highest expression with hEF1a &amp; MNDU3 having similar levels</a:t>
            </a:r>
            <a:endParaRPr b="0" sz="2500" u="none" cap="none" strike="noStrike">
              <a:solidFill>
                <a:schemeClr val="dk1"/>
              </a:solidFill>
              <a:latin typeface="Roboto"/>
              <a:ea typeface="Roboto"/>
              <a:cs typeface="Roboto"/>
              <a:sym typeface="Roboto"/>
            </a:endParaRPr>
          </a:p>
        </p:txBody>
      </p:sp>
      <p:pic>
        <p:nvPicPr>
          <p:cNvPr id="184" name="Google Shape;184;g37993de5706_0_5" title="PromotorPlot.png"/>
          <p:cNvPicPr preferRelativeResize="0"/>
          <p:nvPr/>
        </p:nvPicPr>
        <p:blipFill>
          <a:blip r:embed="rId4">
            <a:alphaModFix/>
          </a:blip>
          <a:stretch>
            <a:fillRect/>
          </a:stretch>
        </p:blipFill>
        <p:spPr>
          <a:xfrm>
            <a:off x="5645950" y="3179976"/>
            <a:ext cx="6448800" cy="3224400"/>
          </a:xfrm>
          <a:prstGeom prst="rect">
            <a:avLst/>
          </a:prstGeom>
          <a:noFill/>
          <a:ln>
            <a:noFill/>
          </a:ln>
        </p:spPr>
      </p:pic>
      <p:sp>
        <p:nvSpPr>
          <p:cNvPr id="185" name="Google Shape;185;g37993de5706_0_5"/>
          <p:cNvSpPr txBox="1"/>
          <p:nvPr/>
        </p:nvSpPr>
        <p:spPr>
          <a:xfrm>
            <a:off x="6323288" y="6231675"/>
            <a:ext cx="793800" cy="428700"/>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b="1" lang="en-US" sz="1500">
                <a:solidFill>
                  <a:srgbClr val="38761D"/>
                </a:solidFill>
                <a:latin typeface="Roboto"/>
                <a:ea typeface="Roboto"/>
                <a:cs typeface="Roboto"/>
                <a:sym typeface="Roboto"/>
              </a:rPr>
              <a:t>CAG</a:t>
            </a:r>
            <a:endParaRPr b="1" i="0" sz="1500" u="none" cap="none" strike="noStrike">
              <a:solidFill>
                <a:srgbClr val="38761D"/>
              </a:solidFill>
              <a:latin typeface="Roboto"/>
              <a:ea typeface="Roboto"/>
              <a:cs typeface="Roboto"/>
              <a:sym typeface="Roboto"/>
            </a:endParaRPr>
          </a:p>
        </p:txBody>
      </p:sp>
      <p:sp>
        <p:nvSpPr>
          <p:cNvPr id="186" name="Google Shape;186;g37993de5706_0_5"/>
          <p:cNvSpPr txBox="1"/>
          <p:nvPr/>
        </p:nvSpPr>
        <p:spPr>
          <a:xfrm>
            <a:off x="7958775" y="6231675"/>
            <a:ext cx="793800" cy="428700"/>
          </a:xfrm>
          <a:prstGeom prst="rect">
            <a:avLst/>
          </a:prstGeom>
          <a:solidFill>
            <a:schemeClr val="lt1"/>
          </a:solidFill>
          <a:ln>
            <a:noFill/>
          </a:ln>
        </p:spPr>
        <p:txBody>
          <a:bodyPr anchorCtr="0" anchor="ctr" bIns="45700" lIns="91425" spcFirstLastPara="1" rIns="91425" wrap="square" tIns="45700">
            <a:normAutofit/>
          </a:bodyPr>
          <a:lstStyle/>
          <a:p>
            <a:pPr indent="0" lvl="0" marL="0" marR="0" rtl="0" algn="ctr">
              <a:lnSpc>
                <a:spcPct val="100000"/>
              </a:lnSpc>
              <a:spcBef>
                <a:spcPts val="2200"/>
              </a:spcBef>
              <a:spcAft>
                <a:spcPts val="0"/>
              </a:spcAft>
              <a:buNone/>
            </a:pPr>
            <a:r>
              <a:rPr b="1" lang="en-US" sz="1500">
                <a:solidFill>
                  <a:srgbClr val="3C78D8"/>
                </a:solidFill>
                <a:latin typeface="Roboto"/>
                <a:ea typeface="Roboto"/>
                <a:cs typeface="Roboto"/>
                <a:sym typeface="Roboto"/>
              </a:rPr>
              <a:t>hEF1a</a:t>
            </a:r>
            <a:endParaRPr b="1" i="0" sz="1500" u="none" cap="none" strike="noStrike">
              <a:solidFill>
                <a:srgbClr val="3C78D8"/>
              </a:solidFill>
              <a:latin typeface="Roboto"/>
              <a:ea typeface="Roboto"/>
              <a:cs typeface="Roboto"/>
              <a:sym typeface="Roboto"/>
            </a:endParaRPr>
          </a:p>
        </p:txBody>
      </p:sp>
      <p:sp>
        <p:nvSpPr>
          <p:cNvPr id="187" name="Google Shape;187;g37993de5706_0_5"/>
          <p:cNvSpPr txBox="1"/>
          <p:nvPr/>
        </p:nvSpPr>
        <p:spPr>
          <a:xfrm>
            <a:off x="9594250" y="6231675"/>
            <a:ext cx="793800" cy="428700"/>
          </a:xfrm>
          <a:prstGeom prst="rect">
            <a:avLst/>
          </a:prstGeom>
          <a:solidFill>
            <a:schemeClr val="lt1"/>
          </a:solidFill>
          <a:ln>
            <a:noFill/>
          </a:ln>
        </p:spPr>
        <p:txBody>
          <a:bodyPr anchorCtr="0" anchor="ctr" bIns="45700" lIns="91425" spcFirstLastPara="1" rIns="91425" wrap="square" tIns="45700">
            <a:normAutofit fontScale="92500"/>
          </a:bodyPr>
          <a:lstStyle/>
          <a:p>
            <a:pPr indent="0" lvl="0" marL="0" marR="0" rtl="0" algn="ctr">
              <a:lnSpc>
                <a:spcPct val="100000"/>
              </a:lnSpc>
              <a:spcBef>
                <a:spcPts val="2200"/>
              </a:spcBef>
              <a:spcAft>
                <a:spcPts val="0"/>
              </a:spcAft>
              <a:buNone/>
            </a:pPr>
            <a:r>
              <a:rPr b="1" lang="en-US" sz="1500">
                <a:solidFill>
                  <a:srgbClr val="674EA7"/>
                </a:solidFill>
                <a:latin typeface="Roboto"/>
                <a:ea typeface="Roboto"/>
                <a:cs typeface="Roboto"/>
                <a:sym typeface="Roboto"/>
              </a:rPr>
              <a:t>MNDU3</a:t>
            </a:r>
            <a:endParaRPr b="1" i="0" sz="1500" u="none" cap="none" strike="noStrike">
              <a:solidFill>
                <a:srgbClr val="674EA7"/>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cxnSp>
        <p:nvCxnSpPr>
          <p:cNvPr id="193" name="Google Shape;193;p6"/>
          <p:cNvCxnSpPr/>
          <p:nvPr/>
        </p:nvCxnSpPr>
        <p:spPr>
          <a:xfrm>
            <a:off x="657050" y="2381875"/>
            <a:ext cx="11089200" cy="0"/>
          </a:xfrm>
          <a:prstGeom prst="straightConnector1">
            <a:avLst/>
          </a:prstGeom>
          <a:noFill/>
          <a:ln cap="flat" cmpd="sng" w="28575">
            <a:solidFill>
              <a:schemeClr val="accent1"/>
            </a:solidFill>
            <a:prstDash val="solid"/>
            <a:miter lim="800000"/>
            <a:headEnd len="sm" w="sm" type="none"/>
            <a:tailEnd len="lg" w="lg" type="triangle"/>
          </a:ln>
        </p:spPr>
      </p:cxnSp>
      <p:sp>
        <p:nvSpPr>
          <p:cNvPr id="194" name="Google Shape;194;p6"/>
          <p:cNvSpPr txBox="1"/>
          <p:nvPr/>
        </p:nvSpPr>
        <p:spPr>
          <a:xfrm>
            <a:off x="927615" y="1108428"/>
            <a:ext cx="10342245" cy="89553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Experiment Timeline (</a:t>
            </a:r>
            <a:r>
              <a:rPr b="1" lang="en-US" sz="3200">
                <a:solidFill>
                  <a:schemeClr val="dk2"/>
                </a:solidFill>
                <a:latin typeface="Roboto Medium"/>
                <a:ea typeface="Roboto Medium"/>
                <a:cs typeface="Roboto Medium"/>
                <a:sym typeface="Roboto Medium"/>
              </a:rPr>
              <a:t>1/3</a:t>
            </a:r>
            <a:r>
              <a:rPr b="1" i="0" lang="en-US" sz="3200" u="none" cap="none" strike="noStrike">
                <a:solidFill>
                  <a:schemeClr val="dk2"/>
                </a:solidFill>
                <a:latin typeface="Roboto Medium"/>
                <a:ea typeface="Roboto Medium"/>
                <a:cs typeface="Roboto Medium"/>
                <a:sym typeface="Roboto Medium"/>
              </a:rPr>
              <a:t>)</a:t>
            </a:r>
            <a:endParaRPr b="0" i="0" sz="1400" u="none" cap="none" strike="noStrike">
              <a:solidFill>
                <a:srgbClr val="000000"/>
              </a:solidFill>
              <a:latin typeface="Arial"/>
              <a:ea typeface="Arial"/>
              <a:cs typeface="Arial"/>
              <a:sym typeface="Arial"/>
            </a:endParaRPr>
          </a:p>
        </p:txBody>
      </p:sp>
      <p:sp>
        <p:nvSpPr>
          <p:cNvPr id="195" name="Google Shape;195;p6"/>
          <p:cNvSpPr txBox="1"/>
          <p:nvPr/>
        </p:nvSpPr>
        <p:spPr>
          <a:xfrm>
            <a:off x="587376" y="549275"/>
            <a:ext cx="34023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III</a:t>
            </a:r>
            <a:endParaRPr b="0" i="0" sz="1400" u="none" cap="none" strike="noStrike">
              <a:solidFill>
                <a:schemeClr val="accent1"/>
              </a:solidFill>
              <a:latin typeface="Roboto"/>
              <a:ea typeface="Roboto"/>
              <a:cs typeface="Roboto"/>
              <a:sym typeface="Roboto"/>
            </a:endParaRPr>
          </a:p>
        </p:txBody>
      </p:sp>
      <p:sp>
        <p:nvSpPr>
          <p:cNvPr id="196" name="Google Shape;196;p6"/>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Methodology</a:t>
            </a:r>
            <a:endParaRPr b="0" i="0" sz="1400" u="none" cap="none" strike="noStrike">
              <a:solidFill>
                <a:schemeClr val="accent1"/>
              </a:solidFill>
              <a:latin typeface="Roboto"/>
              <a:ea typeface="Roboto"/>
              <a:cs typeface="Roboto"/>
              <a:sym typeface="Roboto"/>
            </a:endParaRPr>
          </a:p>
        </p:txBody>
      </p:sp>
      <p:sp>
        <p:nvSpPr>
          <p:cNvPr id="197" name="Google Shape;197;p6"/>
          <p:cNvSpPr/>
          <p:nvPr/>
        </p:nvSpPr>
        <p:spPr>
          <a:xfrm>
            <a:off x="3362901"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2</a:t>
            </a:r>
            <a:endParaRPr b="0" i="0" sz="1400" u="none" cap="none" strike="noStrike">
              <a:solidFill>
                <a:srgbClr val="000000"/>
              </a:solidFill>
              <a:latin typeface="Arial"/>
              <a:ea typeface="Arial"/>
              <a:cs typeface="Arial"/>
              <a:sym typeface="Arial"/>
            </a:endParaRPr>
          </a:p>
        </p:txBody>
      </p:sp>
      <p:sp>
        <p:nvSpPr>
          <p:cNvPr id="198" name="Google Shape;198;p6"/>
          <p:cNvSpPr txBox="1"/>
          <p:nvPr/>
        </p:nvSpPr>
        <p:spPr>
          <a:xfrm>
            <a:off x="2479844"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Preparing &amp; running gel</a:t>
            </a:r>
            <a:endParaRPr b="0" i="0" sz="1400" u="none" cap="none" strike="noStrike">
              <a:solidFill>
                <a:srgbClr val="000000"/>
              </a:solidFill>
              <a:latin typeface="Arial"/>
              <a:ea typeface="Arial"/>
              <a:cs typeface="Arial"/>
              <a:sym typeface="Arial"/>
            </a:endParaRPr>
          </a:p>
        </p:txBody>
      </p:sp>
      <p:sp>
        <p:nvSpPr>
          <p:cNvPr id="199" name="Google Shape;199;p6"/>
          <p:cNvSpPr/>
          <p:nvPr/>
        </p:nvSpPr>
        <p:spPr>
          <a:xfrm>
            <a:off x="5813536"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3</a:t>
            </a:r>
            <a:endParaRPr b="0" i="0" sz="1400" u="none" cap="none" strike="noStrike">
              <a:solidFill>
                <a:srgbClr val="000000"/>
              </a:solidFill>
              <a:latin typeface="Arial"/>
              <a:ea typeface="Arial"/>
              <a:cs typeface="Arial"/>
              <a:sym typeface="Arial"/>
            </a:endParaRPr>
          </a:p>
        </p:txBody>
      </p:sp>
      <p:sp>
        <p:nvSpPr>
          <p:cNvPr id="200" name="Google Shape;200;p6"/>
          <p:cNvSpPr txBox="1"/>
          <p:nvPr/>
        </p:nvSpPr>
        <p:spPr>
          <a:xfrm>
            <a:off x="4930479"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Gel Purification</a:t>
            </a:r>
            <a:endParaRPr b="0" i="0" sz="1400" u="none" cap="none" strike="noStrike">
              <a:solidFill>
                <a:srgbClr val="000000"/>
              </a:solidFill>
              <a:latin typeface="Arial"/>
              <a:ea typeface="Arial"/>
              <a:cs typeface="Arial"/>
              <a:sym typeface="Arial"/>
            </a:endParaRPr>
          </a:p>
        </p:txBody>
      </p:sp>
      <p:sp>
        <p:nvSpPr>
          <p:cNvPr id="201" name="Google Shape;201;p6"/>
          <p:cNvSpPr/>
          <p:nvPr/>
        </p:nvSpPr>
        <p:spPr>
          <a:xfrm>
            <a:off x="8264172"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4</a:t>
            </a:r>
            <a:endParaRPr b="0" i="0" sz="1400" u="none" cap="none" strike="noStrike">
              <a:solidFill>
                <a:srgbClr val="000000"/>
              </a:solidFill>
              <a:latin typeface="Arial"/>
              <a:ea typeface="Arial"/>
              <a:cs typeface="Arial"/>
              <a:sym typeface="Arial"/>
            </a:endParaRPr>
          </a:p>
        </p:txBody>
      </p:sp>
      <p:sp>
        <p:nvSpPr>
          <p:cNvPr id="202" name="Google Shape;202;p6"/>
          <p:cNvSpPr txBox="1"/>
          <p:nvPr/>
        </p:nvSpPr>
        <p:spPr>
          <a:xfrm>
            <a:off x="7381115"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Gibson Assembly</a:t>
            </a:r>
            <a:endParaRPr b="0" i="0" sz="1400" u="none" cap="none" strike="noStrike">
              <a:solidFill>
                <a:srgbClr val="000000"/>
              </a:solidFill>
              <a:latin typeface="Arial"/>
              <a:ea typeface="Arial"/>
              <a:cs typeface="Arial"/>
              <a:sym typeface="Arial"/>
            </a:endParaRPr>
          </a:p>
        </p:txBody>
      </p:sp>
      <p:sp>
        <p:nvSpPr>
          <p:cNvPr id="203" name="Google Shape;203;p6"/>
          <p:cNvSpPr/>
          <p:nvPr/>
        </p:nvSpPr>
        <p:spPr>
          <a:xfrm>
            <a:off x="883057"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1</a:t>
            </a:r>
            <a:endParaRPr b="0" i="0" sz="1400" u="none" cap="none" strike="noStrike">
              <a:solidFill>
                <a:srgbClr val="000000"/>
              </a:solidFill>
              <a:latin typeface="Arial"/>
              <a:ea typeface="Arial"/>
              <a:cs typeface="Arial"/>
              <a:sym typeface="Arial"/>
            </a:endParaRPr>
          </a:p>
        </p:txBody>
      </p:sp>
      <p:sp>
        <p:nvSpPr>
          <p:cNvPr id="204" name="Google Shape;204;p6"/>
          <p:cNvSpPr txBox="1"/>
          <p:nvPr/>
        </p:nvSpPr>
        <p:spPr>
          <a:xfrm>
            <a:off x="0"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PCR for DNA Production</a:t>
            </a:r>
            <a:endParaRPr b="0" i="0" sz="1400" u="none" cap="none" strike="noStrike">
              <a:solidFill>
                <a:srgbClr val="000000"/>
              </a:solidFill>
              <a:latin typeface="Arial"/>
              <a:ea typeface="Arial"/>
              <a:cs typeface="Arial"/>
              <a:sym typeface="Arial"/>
            </a:endParaRPr>
          </a:p>
        </p:txBody>
      </p:sp>
      <p:sp>
        <p:nvSpPr>
          <p:cNvPr id="205" name="Google Shape;205;p6"/>
          <p:cNvSpPr/>
          <p:nvPr/>
        </p:nvSpPr>
        <p:spPr>
          <a:xfrm>
            <a:off x="10714822"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Roboto"/>
                <a:ea typeface="Roboto"/>
                <a:cs typeface="Roboto"/>
                <a:sym typeface="Roboto"/>
              </a:rPr>
              <a:t>4</a:t>
            </a:r>
            <a:endParaRPr b="0" i="0" sz="1400" u="none" cap="none" strike="noStrike">
              <a:solidFill>
                <a:srgbClr val="000000"/>
              </a:solidFill>
              <a:latin typeface="Arial"/>
              <a:ea typeface="Arial"/>
              <a:cs typeface="Arial"/>
              <a:sym typeface="Arial"/>
            </a:endParaRPr>
          </a:p>
        </p:txBody>
      </p:sp>
      <p:sp>
        <p:nvSpPr>
          <p:cNvPr id="206" name="Google Shape;206;p6"/>
          <p:cNvSpPr txBox="1"/>
          <p:nvPr/>
        </p:nvSpPr>
        <p:spPr>
          <a:xfrm>
            <a:off x="9831765"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DNA Digestion with Dpn1</a:t>
            </a:r>
            <a:endParaRPr b="0" i="0" sz="1400" u="none" cap="none" strike="noStrike">
              <a:solidFill>
                <a:srgbClr val="000000"/>
              </a:solidFill>
              <a:latin typeface="Arial"/>
              <a:ea typeface="Arial"/>
              <a:cs typeface="Arial"/>
              <a:sym typeface="Arial"/>
            </a:endParaRPr>
          </a:p>
        </p:txBody>
      </p:sp>
      <p:pic>
        <p:nvPicPr>
          <p:cNvPr id="207" name="Google Shape;207;p6"/>
          <p:cNvPicPr preferRelativeResize="0"/>
          <p:nvPr/>
        </p:nvPicPr>
        <p:blipFill>
          <a:blip r:embed="rId3">
            <a:alphaModFix/>
          </a:blip>
          <a:stretch>
            <a:fillRect/>
          </a:stretch>
        </p:blipFill>
        <p:spPr>
          <a:xfrm>
            <a:off x="173250" y="4352700"/>
            <a:ext cx="2016600" cy="2188718"/>
          </a:xfrm>
          <a:prstGeom prst="rect">
            <a:avLst/>
          </a:prstGeom>
          <a:noFill/>
          <a:ln>
            <a:noFill/>
          </a:ln>
        </p:spPr>
      </p:pic>
      <p:pic>
        <p:nvPicPr>
          <p:cNvPr id="208" name="Google Shape;208;p6"/>
          <p:cNvPicPr preferRelativeResize="0"/>
          <p:nvPr/>
        </p:nvPicPr>
        <p:blipFill>
          <a:blip r:embed="rId4">
            <a:alphaModFix/>
          </a:blip>
          <a:stretch>
            <a:fillRect/>
          </a:stretch>
        </p:blipFill>
        <p:spPr>
          <a:xfrm>
            <a:off x="2479850" y="3535450"/>
            <a:ext cx="2259300" cy="2135676"/>
          </a:xfrm>
          <a:prstGeom prst="rect">
            <a:avLst/>
          </a:prstGeom>
          <a:noFill/>
          <a:ln>
            <a:noFill/>
          </a:ln>
        </p:spPr>
      </p:pic>
      <p:pic>
        <p:nvPicPr>
          <p:cNvPr id="209" name="Google Shape;209;p6"/>
          <p:cNvPicPr preferRelativeResize="0"/>
          <p:nvPr/>
        </p:nvPicPr>
        <p:blipFill rotWithShape="1">
          <a:blip r:embed="rId5">
            <a:alphaModFix/>
          </a:blip>
          <a:srcRect b="0" l="8677" r="8128" t="0"/>
          <a:stretch/>
        </p:blipFill>
        <p:spPr>
          <a:xfrm>
            <a:off x="7583950" y="3358150"/>
            <a:ext cx="2127749" cy="2101949"/>
          </a:xfrm>
          <a:prstGeom prst="rect">
            <a:avLst/>
          </a:prstGeom>
          <a:noFill/>
          <a:ln>
            <a:noFill/>
          </a:ln>
        </p:spPr>
      </p:pic>
      <p:pic>
        <p:nvPicPr>
          <p:cNvPr id="210" name="Google Shape;210;p6"/>
          <p:cNvPicPr preferRelativeResize="0"/>
          <p:nvPr/>
        </p:nvPicPr>
        <p:blipFill>
          <a:blip r:embed="rId6">
            <a:alphaModFix/>
          </a:blip>
          <a:stretch>
            <a:fillRect/>
          </a:stretch>
        </p:blipFill>
        <p:spPr>
          <a:xfrm>
            <a:off x="4930475" y="4565949"/>
            <a:ext cx="2755901" cy="1762228"/>
          </a:xfrm>
          <a:prstGeom prst="rect">
            <a:avLst/>
          </a:prstGeom>
          <a:noFill/>
          <a:ln>
            <a:noFill/>
          </a:ln>
        </p:spPr>
      </p:pic>
      <p:pic>
        <p:nvPicPr>
          <p:cNvPr id="211" name="Google Shape;211;p6"/>
          <p:cNvPicPr preferRelativeResize="0"/>
          <p:nvPr/>
        </p:nvPicPr>
        <p:blipFill>
          <a:blip r:embed="rId7">
            <a:alphaModFix/>
          </a:blip>
          <a:stretch>
            <a:fillRect/>
          </a:stretch>
        </p:blipFill>
        <p:spPr>
          <a:xfrm>
            <a:off x="9501200" y="4597375"/>
            <a:ext cx="2480226" cy="1699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cxnSp>
        <p:nvCxnSpPr>
          <p:cNvPr id="217" name="Google Shape;217;g38520d52077_0_57"/>
          <p:cNvCxnSpPr/>
          <p:nvPr/>
        </p:nvCxnSpPr>
        <p:spPr>
          <a:xfrm>
            <a:off x="657050" y="2381875"/>
            <a:ext cx="11089200" cy="0"/>
          </a:xfrm>
          <a:prstGeom prst="straightConnector1">
            <a:avLst/>
          </a:prstGeom>
          <a:noFill/>
          <a:ln cap="flat" cmpd="sng" w="28575">
            <a:solidFill>
              <a:schemeClr val="accent1"/>
            </a:solidFill>
            <a:prstDash val="solid"/>
            <a:miter lim="800000"/>
            <a:headEnd len="sm" w="sm" type="none"/>
            <a:tailEnd len="lg" w="lg" type="triangle"/>
          </a:ln>
        </p:spPr>
      </p:cxnSp>
      <p:sp>
        <p:nvSpPr>
          <p:cNvPr id="218" name="Google Shape;218;g38520d52077_0_57"/>
          <p:cNvSpPr txBox="1"/>
          <p:nvPr/>
        </p:nvSpPr>
        <p:spPr>
          <a:xfrm>
            <a:off x="927615" y="1108428"/>
            <a:ext cx="10342200" cy="895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Experiment Timeline (</a:t>
            </a:r>
            <a:r>
              <a:rPr b="1" lang="en-US" sz="3200">
                <a:solidFill>
                  <a:schemeClr val="dk2"/>
                </a:solidFill>
                <a:latin typeface="Roboto Medium"/>
                <a:ea typeface="Roboto Medium"/>
                <a:cs typeface="Roboto Medium"/>
                <a:sym typeface="Roboto Medium"/>
              </a:rPr>
              <a:t>2/3)</a:t>
            </a:r>
            <a:endParaRPr b="0" i="0" sz="1400" u="none" cap="none" strike="noStrike">
              <a:solidFill>
                <a:srgbClr val="000000"/>
              </a:solidFill>
              <a:latin typeface="Arial"/>
              <a:ea typeface="Arial"/>
              <a:cs typeface="Arial"/>
              <a:sym typeface="Arial"/>
            </a:endParaRPr>
          </a:p>
        </p:txBody>
      </p:sp>
      <p:sp>
        <p:nvSpPr>
          <p:cNvPr id="219" name="Google Shape;219;g38520d52077_0_57"/>
          <p:cNvSpPr txBox="1"/>
          <p:nvPr/>
        </p:nvSpPr>
        <p:spPr>
          <a:xfrm>
            <a:off x="587376" y="549275"/>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III</a:t>
            </a:r>
            <a:endParaRPr b="0" i="0" sz="1400" u="none" cap="none" strike="noStrike">
              <a:solidFill>
                <a:schemeClr val="accent1"/>
              </a:solidFill>
              <a:latin typeface="Roboto"/>
              <a:ea typeface="Roboto"/>
              <a:cs typeface="Roboto"/>
              <a:sym typeface="Roboto"/>
            </a:endParaRPr>
          </a:p>
        </p:txBody>
      </p:sp>
      <p:sp>
        <p:nvSpPr>
          <p:cNvPr id="220" name="Google Shape;220;g38520d52077_0_57"/>
          <p:cNvSpPr txBox="1"/>
          <p:nvPr/>
        </p:nvSpPr>
        <p:spPr>
          <a:xfrm>
            <a:off x="843555" y="549275"/>
            <a:ext cx="201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Methodology</a:t>
            </a:r>
            <a:endParaRPr b="0" i="0" sz="1400" u="none" cap="none" strike="noStrike">
              <a:solidFill>
                <a:schemeClr val="accent1"/>
              </a:solidFill>
              <a:latin typeface="Roboto"/>
              <a:ea typeface="Roboto"/>
              <a:cs typeface="Roboto"/>
              <a:sym typeface="Roboto"/>
            </a:endParaRPr>
          </a:p>
        </p:txBody>
      </p:sp>
      <p:sp>
        <p:nvSpPr>
          <p:cNvPr id="221" name="Google Shape;221;g38520d52077_0_57"/>
          <p:cNvSpPr/>
          <p:nvPr/>
        </p:nvSpPr>
        <p:spPr>
          <a:xfrm>
            <a:off x="3362901"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7</a:t>
            </a:r>
            <a:endParaRPr b="0" i="0" sz="1400" u="none" cap="none" strike="noStrike">
              <a:solidFill>
                <a:srgbClr val="000000"/>
              </a:solidFill>
              <a:latin typeface="Arial"/>
              <a:ea typeface="Arial"/>
              <a:cs typeface="Arial"/>
              <a:sym typeface="Arial"/>
            </a:endParaRPr>
          </a:p>
        </p:txBody>
      </p:sp>
      <p:sp>
        <p:nvSpPr>
          <p:cNvPr id="222" name="Google Shape;222;g38520d52077_0_57"/>
          <p:cNvSpPr/>
          <p:nvPr/>
        </p:nvSpPr>
        <p:spPr>
          <a:xfrm>
            <a:off x="5813536"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8</a:t>
            </a:r>
            <a:endParaRPr b="0" i="0" sz="1400" u="none" cap="none" strike="noStrike">
              <a:solidFill>
                <a:srgbClr val="000000"/>
              </a:solidFill>
              <a:latin typeface="Arial"/>
              <a:ea typeface="Arial"/>
              <a:cs typeface="Arial"/>
              <a:sym typeface="Arial"/>
            </a:endParaRPr>
          </a:p>
        </p:txBody>
      </p:sp>
      <p:sp>
        <p:nvSpPr>
          <p:cNvPr id="223" name="Google Shape;223;g38520d52077_0_57"/>
          <p:cNvSpPr txBox="1"/>
          <p:nvPr/>
        </p:nvSpPr>
        <p:spPr>
          <a:xfrm>
            <a:off x="2601204"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Liquid Bacterial Culture</a:t>
            </a:r>
            <a:endParaRPr b="0" i="0" sz="1400" u="none" cap="none" strike="noStrike">
              <a:solidFill>
                <a:srgbClr val="000000"/>
              </a:solidFill>
              <a:latin typeface="Arial"/>
              <a:ea typeface="Arial"/>
              <a:cs typeface="Arial"/>
              <a:sym typeface="Arial"/>
            </a:endParaRPr>
          </a:p>
        </p:txBody>
      </p:sp>
      <p:sp>
        <p:nvSpPr>
          <p:cNvPr id="224" name="Google Shape;224;g38520d52077_0_57"/>
          <p:cNvSpPr/>
          <p:nvPr/>
        </p:nvSpPr>
        <p:spPr>
          <a:xfrm>
            <a:off x="8264172"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9</a:t>
            </a:r>
            <a:endParaRPr b="0" i="0" sz="1400" u="none" cap="none" strike="noStrike">
              <a:solidFill>
                <a:srgbClr val="000000"/>
              </a:solidFill>
              <a:latin typeface="Arial"/>
              <a:ea typeface="Arial"/>
              <a:cs typeface="Arial"/>
              <a:sym typeface="Arial"/>
            </a:endParaRPr>
          </a:p>
        </p:txBody>
      </p:sp>
      <p:sp>
        <p:nvSpPr>
          <p:cNvPr id="225" name="Google Shape;225;g38520d52077_0_57"/>
          <p:cNvSpPr txBox="1"/>
          <p:nvPr/>
        </p:nvSpPr>
        <p:spPr>
          <a:xfrm>
            <a:off x="5051840"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Miniprep</a:t>
            </a:r>
            <a:endParaRPr b="0" i="0" sz="1400" u="none" cap="none" strike="noStrike">
              <a:solidFill>
                <a:srgbClr val="000000"/>
              </a:solidFill>
              <a:latin typeface="Arial"/>
              <a:ea typeface="Arial"/>
              <a:cs typeface="Arial"/>
              <a:sym typeface="Arial"/>
            </a:endParaRPr>
          </a:p>
        </p:txBody>
      </p:sp>
      <p:sp>
        <p:nvSpPr>
          <p:cNvPr id="226" name="Google Shape;226;g38520d52077_0_57"/>
          <p:cNvSpPr/>
          <p:nvPr/>
        </p:nvSpPr>
        <p:spPr>
          <a:xfrm>
            <a:off x="883057"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6</a:t>
            </a:r>
            <a:endParaRPr b="0" i="0" sz="1400" u="none" cap="none" strike="noStrike">
              <a:solidFill>
                <a:srgbClr val="000000"/>
              </a:solidFill>
              <a:latin typeface="Arial"/>
              <a:ea typeface="Arial"/>
              <a:cs typeface="Arial"/>
              <a:sym typeface="Arial"/>
            </a:endParaRPr>
          </a:p>
        </p:txBody>
      </p:sp>
      <p:sp>
        <p:nvSpPr>
          <p:cNvPr id="227" name="Google Shape;227;g38520d52077_0_57"/>
          <p:cNvSpPr txBox="1"/>
          <p:nvPr/>
        </p:nvSpPr>
        <p:spPr>
          <a:xfrm>
            <a:off x="0"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Bacterial Transformation</a:t>
            </a:r>
            <a:endParaRPr b="0" i="0" sz="1400" u="none" cap="none" strike="noStrike">
              <a:solidFill>
                <a:srgbClr val="000000"/>
              </a:solidFill>
              <a:latin typeface="Arial"/>
              <a:ea typeface="Arial"/>
              <a:cs typeface="Arial"/>
              <a:sym typeface="Arial"/>
            </a:endParaRPr>
          </a:p>
        </p:txBody>
      </p:sp>
      <p:sp>
        <p:nvSpPr>
          <p:cNvPr id="228" name="Google Shape;228;g38520d52077_0_57"/>
          <p:cNvSpPr/>
          <p:nvPr/>
        </p:nvSpPr>
        <p:spPr>
          <a:xfrm>
            <a:off x="10714822"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10</a:t>
            </a:r>
            <a:endParaRPr b="0" i="0" sz="1400" u="none" cap="none" strike="noStrike">
              <a:solidFill>
                <a:srgbClr val="000000"/>
              </a:solidFill>
              <a:latin typeface="Arial"/>
              <a:ea typeface="Arial"/>
              <a:cs typeface="Arial"/>
              <a:sym typeface="Arial"/>
            </a:endParaRPr>
          </a:p>
        </p:txBody>
      </p:sp>
      <p:sp>
        <p:nvSpPr>
          <p:cNvPr id="229" name="Google Shape;229;g38520d52077_0_57"/>
          <p:cNvSpPr txBox="1"/>
          <p:nvPr/>
        </p:nvSpPr>
        <p:spPr>
          <a:xfrm>
            <a:off x="7502490"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Golden Gate Assembly</a:t>
            </a:r>
            <a:endParaRPr b="0" i="0" sz="1400" u="none" cap="none" strike="noStrike">
              <a:solidFill>
                <a:srgbClr val="000000"/>
              </a:solidFill>
              <a:latin typeface="Arial"/>
              <a:ea typeface="Arial"/>
              <a:cs typeface="Arial"/>
              <a:sym typeface="Arial"/>
            </a:endParaRPr>
          </a:p>
        </p:txBody>
      </p:sp>
      <p:pic>
        <p:nvPicPr>
          <p:cNvPr id="230" name="Google Shape;230;g38520d52077_0_57"/>
          <p:cNvPicPr preferRelativeResize="0"/>
          <p:nvPr/>
        </p:nvPicPr>
        <p:blipFill>
          <a:blip r:embed="rId3">
            <a:alphaModFix/>
          </a:blip>
          <a:stretch>
            <a:fillRect/>
          </a:stretch>
        </p:blipFill>
        <p:spPr>
          <a:xfrm>
            <a:off x="105025" y="3498526"/>
            <a:ext cx="2496175" cy="1772072"/>
          </a:xfrm>
          <a:prstGeom prst="rect">
            <a:avLst/>
          </a:prstGeom>
          <a:noFill/>
          <a:ln>
            <a:noFill/>
          </a:ln>
        </p:spPr>
      </p:pic>
      <p:pic>
        <p:nvPicPr>
          <p:cNvPr id="231" name="Google Shape;231;g38520d52077_0_57"/>
          <p:cNvPicPr preferRelativeResize="0"/>
          <p:nvPr/>
        </p:nvPicPr>
        <p:blipFill>
          <a:blip r:embed="rId4">
            <a:alphaModFix/>
          </a:blip>
          <a:stretch>
            <a:fillRect/>
          </a:stretch>
        </p:blipFill>
        <p:spPr>
          <a:xfrm>
            <a:off x="4955799" y="3561384"/>
            <a:ext cx="2374829" cy="2927115"/>
          </a:xfrm>
          <a:prstGeom prst="rect">
            <a:avLst/>
          </a:prstGeom>
          <a:noFill/>
          <a:ln>
            <a:noFill/>
          </a:ln>
        </p:spPr>
      </p:pic>
      <p:pic>
        <p:nvPicPr>
          <p:cNvPr id="232" name="Google Shape;232;g38520d52077_0_57"/>
          <p:cNvPicPr preferRelativeResize="0"/>
          <p:nvPr/>
        </p:nvPicPr>
        <p:blipFill>
          <a:blip r:embed="rId5">
            <a:alphaModFix/>
          </a:blip>
          <a:stretch>
            <a:fillRect/>
          </a:stretch>
        </p:blipFill>
        <p:spPr>
          <a:xfrm>
            <a:off x="7502500" y="3823674"/>
            <a:ext cx="2259301" cy="2333013"/>
          </a:xfrm>
          <a:prstGeom prst="rect">
            <a:avLst/>
          </a:prstGeom>
          <a:noFill/>
          <a:ln>
            <a:noFill/>
          </a:ln>
        </p:spPr>
      </p:pic>
      <p:pic>
        <p:nvPicPr>
          <p:cNvPr id="233" name="Google Shape;233;g38520d52077_0_57"/>
          <p:cNvPicPr preferRelativeResize="0"/>
          <p:nvPr/>
        </p:nvPicPr>
        <p:blipFill>
          <a:blip r:embed="rId6">
            <a:alphaModFix/>
          </a:blip>
          <a:stretch>
            <a:fillRect/>
          </a:stretch>
        </p:blipFill>
        <p:spPr>
          <a:xfrm>
            <a:off x="2604424" y="3760384"/>
            <a:ext cx="2179500" cy="2732897"/>
          </a:xfrm>
          <a:prstGeom prst="rect">
            <a:avLst/>
          </a:prstGeom>
          <a:noFill/>
          <a:ln>
            <a:noFill/>
          </a:ln>
        </p:spPr>
      </p:pic>
      <p:sp>
        <p:nvSpPr>
          <p:cNvPr id="234" name="Google Shape;234;g38520d52077_0_57"/>
          <p:cNvSpPr txBox="1"/>
          <p:nvPr/>
        </p:nvSpPr>
        <p:spPr>
          <a:xfrm>
            <a:off x="9685225" y="2847409"/>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Bacterial Transformation with Device</a:t>
            </a:r>
            <a:endParaRPr b="0" i="0" sz="1400" u="none" cap="none" strike="noStrike">
              <a:solidFill>
                <a:srgbClr val="000000"/>
              </a:solidFill>
              <a:latin typeface="Arial"/>
              <a:ea typeface="Arial"/>
              <a:cs typeface="Arial"/>
              <a:sym typeface="Arial"/>
            </a:endParaRPr>
          </a:p>
        </p:txBody>
      </p:sp>
      <p:pic>
        <p:nvPicPr>
          <p:cNvPr id="235" name="Google Shape;235;g38520d52077_0_57"/>
          <p:cNvPicPr preferRelativeResize="0"/>
          <p:nvPr/>
        </p:nvPicPr>
        <p:blipFill>
          <a:blip r:embed="rId7">
            <a:alphaModFix/>
          </a:blip>
          <a:stretch>
            <a:fillRect/>
          </a:stretch>
        </p:blipFill>
        <p:spPr>
          <a:xfrm>
            <a:off x="9710125" y="3895309"/>
            <a:ext cx="2454950" cy="2189185"/>
          </a:xfrm>
          <a:prstGeom prst="rect">
            <a:avLst/>
          </a:prstGeom>
          <a:noFill/>
          <a:ln>
            <a:noFill/>
          </a:ln>
        </p:spPr>
      </p:pic>
      <p:pic>
        <p:nvPicPr>
          <p:cNvPr id="236" name="Google Shape;236;g38520d52077_0_57"/>
          <p:cNvPicPr preferRelativeResize="0"/>
          <p:nvPr/>
        </p:nvPicPr>
        <p:blipFill>
          <a:blip r:embed="rId8">
            <a:alphaModFix/>
          </a:blip>
          <a:stretch>
            <a:fillRect/>
          </a:stretch>
        </p:blipFill>
        <p:spPr>
          <a:xfrm>
            <a:off x="414832" y="5196249"/>
            <a:ext cx="1876561" cy="15874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g38520d52077_0_75"/>
          <p:cNvCxnSpPr/>
          <p:nvPr/>
        </p:nvCxnSpPr>
        <p:spPr>
          <a:xfrm>
            <a:off x="657050" y="2381875"/>
            <a:ext cx="11089200" cy="0"/>
          </a:xfrm>
          <a:prstGeom prst="straightConnector1">
            <a:avLst/>
          </a:prstGeom>
          <a:noFill/>
          <a:ln cap="flat" cmpd="sng" w="28575">
            <a:solidFill>
              <a:schemeClr val="accent1"/>
            </a:solidFill>
            <a:prstDash val="solid"/>
            <a:miter lim="800000"/>
            <a:headEnd len="sm" w="sm" type="none"/>
            <a:tailEnd len="lg" w="lg" type="triangle"/>
          </a:ln>
        </p:spPr>
      </p:cxnSp>
      <p:sp>
        <p:nvSpPr>
          <p:cNvPr id="243" name="Google Shape;243;g38520d52077_0_75"/>
          <p:cNvSpPr txBox="1"/>
          <p:nvPr/>
        </p:nvSpPr>
        <p:spPr>
          <a:xfrm>
            <a:off x="927615" y="1108428"/>
            <a:ext cx="10342200" cy="895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Experiment Timeline (3/3) </a:t>
            </a:r>
            <a:endParaRPr b="0" i="0" sz="1400" u="none" cap="none" strike="noStrike">
              <a:solidFill>
                <a:srgbClr val="000000"/>
              </a:solidFill>
              <a:latin typeface="Arial"/>
              <a:ea typeface="Arial"/>
              <a:cs typeface="Arial"/>
              <a:sym typeface="Arial"/>
            </a:endParaRPr>
          </a:p>
        </p:txBody>
      </p:sp>
      <p:sp>
        <p:nvSpPr>
          <p:cNvPr id="244" name="Google Shape;244;g38520d52077_0_75"/>
          <p:cNvSpPr txBox="1"/>
          <p:nvPr/>
        </p:nvSpPr>
        <p:spPr>
          <a:xfrm>
            <a:off x="587376" y="549275"/>
            <a:ext cx="340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III</a:t>
            </a:r>
            <a:endParaRPr b="0" i="0" sz="1400" u="none" cap="none" strike="noStrike">
              <a:solidFill>
                <a:schemeClr val="accent1"/>
              </a:solidFill>
              <a:latin typeface="Roboto"/>
              <a:ea typeface="Roboto"/>
              <a:cs typeface="Roboto"/>
              <a:sym typeface="Roboto"/>
            </a:endParaRPr>
          </a:p>
        </p:txBody>
      </p:sp>
      <p:sp>
        <p:nvSpPr>
          <p:cNvPr id="245" name="Google Shape;245;g38520d52077_0_75"/>
          <p:cNvSpPr txBox="1"/>
          <p:nvPr/>
        </p:nvSpPr>
        <p:spPr>
          <a:xfrm>
            <a:off x="843555" y="549275"/>
            <a:ext cx="201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Methodology</a:t>
            </a:r>
            <a:endParaRPr b="0" i="0" sz="1400" u="none" cap="none" strike="noStrike">
              <a:solidFill>
                <a:schemeClr val="accent1"/>
              </a:solidFill>
              <a:latin typeface="Roboto"/>
              <a:ea typeface="Roboto"/>
              <a:cs typeface="Roboto"/>
              <a:sym typeface="Roboto"/>
            </a:endParaRPr>
          </a:p>
        </p:txBody>
      </p:sp>
      <p:sp>
        <p:nvSpPr>
          <p:cNvPr id="246" name="Google Shape;246;g38520d52077_0_75"/>
          <p:cNvSpPr/>
          <p:nvPr/>
        </p:nvSpPr>
        <p:spPr>
          <a:xfrm>
            <a:off x="3362901"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17145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12</a:t>
            </a:r>
            <a:endParaRPr b="0" i="0" sz="1400" u="none" cap="none" strike="noStrike">
              <a:solidFill>
                <a:srgbClr val="000000"/>
              </a:solidFill>
              <a:latin typeface="Arial"/>
              <a:ea typeface="Arial"/>
              <a:cs typeface="Arial"/>
              <a:sym typeface="Arial"/>
            </a:endParaRPr>
          </a:p>
        </p:txBody>
      </p:sp>
      <p:sp>
        <p:nvSpPr>
          <p:cNvPr id="247" name="Google Shape;247;g38520d52077_0_75"/>
          <p:cNvSpPr txBox="1"/>
          <p:nvPr/>
        </p:nvSpPr>
        <p:spPr>
          <a:xfrm>
            <a:off x="47819"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Liquid Bacterial Growth</a:t>
            </a:r>
            <a:endParaRPr b="0" i="0" sz="1400" u="none" cap="none" strike="noStrike">
              <a:solidFill>
                <a:srgbClr val="000000"/>
              </a:solidFill>
              <a:latin typeface="Arial"/>
              <a:ea typeface="Arial"/>
              <a:cs typeface="Arial"/>
              <a:sym typeface="Arial"/>
            </a:endParaRPr>
          </a:p>
        </p:txBody>
      </p:sp>
      <p:sp>
        <p:nvSpPr>
          <p:cNvPr id="248" name="Google Shape;248;g38520d52077_0_75"/>
          <p:cNvSpPr/>
          <p:nvPr/>
        </p:nvSpPr>
        <p:spPr>
          <a:xfrm>
            <a:off x="5813536"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17145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13</a:t>
            </a:r>
            <a:endParaRPr b="0" i="0" sz="1400" u="none" cap="none" strike="noStrike">
              <a:solidFill>
                <a:srgbClr val="000000"/>
              </a:solidFill>
              <a:latin typeface="Arial"/>
              <a:ea typeface="Arial"/>
              <a:cs typeface="Arial"/>
              <a:sym typeface="Arial"/>
            </a:endParaRPr>
          </a:p>
        </p:txBody>
      </p:sp>
      <p:sp>
        <p:nvSpPr>
          <p:cNvPr id="249" name="Google Shape;249;g38520d52077_0_75"/>
          <p:cNvSpPr txBox="1"/>
          <p:nvPr/>
        </p:nvSpPr>
        <p:spPr>
          <a:xfrm>
            <a:off x="2498454"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Miniprep 2</a:t>
            </a:r>
            <a:endParaRPr b="0" i="0" sz="1400" u="none" cap="none" strike="noStrike">
              <a:solidFill>
                <a:srgbClr val="000000"/>
              </a:solidFill>
              <a:latin typeface="Arial"/>
              <a:ea typeface="Arial"/>
              <a:cs typeface="Arial"/>
              <a:sym typeface="Arial"/>
            </a:endParaRPr>
          </a:p>
        </p:txBody>
      </p:sp>
      <p:sp>
        <p:nvSpPr>
          <p:cNvPr id="250" name="Google Shape;250;g38520d52077_0_75"/>
          <p:cNvSpPr/>
          <p:nvPr/>
        </p:nvSpPr>
        <p:spPr>
          <a:xfrm>
            <a:off x="8264172" y="2100350"/>
            <a:ext cx="493200" cy="515700"/>
          </a:xfrm>
          <a:prstGeom prst="ellipse">
            <a:avLst/>
          </a:prstGeom>
          <a:solidFill>
            <a:schemeClr val="accent6"/>
          </a:solidFill>
          <a:ln>
            <a:noFill/>
          </a:ln>
        </p:spPr>
        <p:txBody>
          <a:bodyPr anchorCtr="0" anchor="ctr" bIns="45700" lIns="91425" spcFirstLastPara="1" rIns="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a:t>
            </a:r>
            <a:r>
              <a:rPr b="0" i="0" lang="en-US" sz="1800" u="none" cap="none" strike="noStrike">
                <a:solidFill>
                  <a:schemeClr val="lt1"/>
                </a:solidFill>
                <a:latin typeface="Roboto"/>
                <a:ea typeface="Roboto"/>
                <a:cs typeface="Roboto"/>
                <a:sym typeface="Roboto"/>
              </a:rPr>
              <a:t>4</a:t>
            </a:r>
            <a:endParaRPr b="0" i="0" sz="1400" u="none" cap="none" strike="noStrike">
              <a:solidFill>
                <a:srgbClr val="000000"/>
              </a:solidFill>
              <a:latin typeface="Arial"/>
              <a:ea typeface="Arial"/>
              <a:cs typeface="Arial"/>
              <a:sym typeface="Arial"/>
            </a:endParaRPr>
          </a:p>
        </p:txBody>
      </p:sp>
      <p:sp>
        <p:nvSpPr>
          <p:cNvPr id="251" name="Google Shape;251;g38520d52077_0_75"/>
          <p:cNvSpPr txBox="1"/>
          <p:nvPr/>
        </p:nvSpPr>
        <p:spPr>
          <a:xfrm>
            <a:off x="4949090" y="27124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dk2"/>
                </a:solidFill>
                <a:latin typeface="Roboto Medium"/>
                <a:ea typeface="Roboto Medium"/>
                <a:cs typeface="Roboto Medium"/>
                <a:sym typeface="Roboto Medium"/>
              </a:rPr>
              <a:t>Quality Control Gel</a:t>
            </a:r>
            <a:endParaRPr b="0" i="0" sz="1400" u="none" cap="none" strike="noStrike">
              <a:solidFill>
                <a:srgbClr val="000000"/>
              </a:solidFill>
              <a:latin typeface="Arial"/>
              <a:ea typeface="Arial"/>
              <a:cs typeface="Arial"/>
              <a:sym typeface="Arial"/>
            </a:endParaRPr>
          </a:p>
        </p:txBody>
      </p:sp>
      <p:sp>
        <p:nvSpPr>
          <p:cNvPr id="252" name="Google Shape;252;g38520d52077_0_75"/>
          <p:cNvSpPr/>
          <p:nvPr/>
        </p:nvSpPr>
        <p:spPr>
          <a:xfrm>
            <a:off x="883057" y="2100350"/>
            <a:ext cx="493200" cy="515700"/>
          </a:xfrm>
          <a:prstGeom prst="ellipse">
            <a:avLst/>
          </a:prstGeom>
          <a:solidFill>
            <a:schemeClr val="accent1"/>
          </a:solidFill>
          <a:ln>
            <a:noFill/>
          </a:ln>
        </p:spPr>
        <p:txBody>
          <a:bodyPr anchorCtr="0" anchor="ctr" bIns="45700" lIns="91425" spcFirstLastPara="1" rIns="91425" wrap="square" tIns="45700">
            <a:noAutofit/>
          </a:bodyPr>
          <a:lstStyle/>
          <a:p>
            <a:pPr indent="-5715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11</a:t>
            </a:r>
            <a:endParaRPr b="0" i="0" sz="1400" u="none" cap="none" strike="noStrike">
              <a:solidFill>
                <a:srgbClr val="000000"/>
              </a:solidFill>
              <a:latin typeface="Arial"/>
              <a:ea typeface="Arial"/>
              <a:cs typeface="Arial"/>
              <a:sym typeface="Arial"/>
            </a:endParaRPr>
          </a:p>
        </p:txBody>
      </p:sp>
      <p:sp>
        <p:nvSpPr>
          <p:cNvPr id="253" name="Google Shape;253;g38520d52077_0_75"/>
          <p:cNvSpPr/>
          <p:nvPr/>
        </p:nvSpPr>
        <p:spPr>
          <a:xfrm>
            <a:off x="10714822" y="2100350"/>
            <a:ext cx="493200" cy="515700"/>
          </a:xfrm>
          <a:prstGeom prst="ellipse">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latin typeface="Roboto"/>
                <a:ea typeface="Roboto"/>
                <a:cs typeface="Roboto"/>
                <a:sym typeface="Roboto"/>
              </a:rPr>
              <a:t>15</a:t>
            </a:r>
            <a:endParaRPr b="0" i="0" sz="1400" u="none" cap="none" strike="noStrike">
              <a:solidFill>
                <a:srgbClr val="000000"/>
              </a:solidFill>
              <a:latin typeface="Arial"/>
              <a:ea typeface="Arial"/>
              <a:cs typeface="Arial"/>
              <a:sym typeface="Arial"/>
            </a:endParaRPr>
          </a:p>
        </p:txBody>
      </p:sp>
      <p:sp>
        <p:nvSpPr>
          <p:cNvPr id="254" name="Google Shape;254;g38520d52077_0_75"/>
          <p:cNvSpPr txBox="1"/>
          <p:nvPr/>
        </p:nvSpPr>
        <p:spPr>
          <a:xfrm>
            <a:off x="9831765" y="2730584"/>
            <a:ext cx="2259300" cy="8955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2"/>
              </a:buClr>
              <a:buSzPts val="2000"/>
              <a:buFont typeface="Roboto Medium"/>
              <a:buNone/>
            </a:pPr>
            <a:r>
              <a:rPr b="1" lang="en-US" sz="2000">
                <a:solidFill>
                  <a:schemeClr val="accent6"/>
                </a:solidFill>
                <a:latin typeface="Roboto Medium"/>
                <a:ea typeface="Roboto Medium"/>
                <a:cs typeface="Roboto Medium"/>
                <a:sym typeface="Roboto Medium"/>
              </a:rPr>
              <a:t>Cell Transfection</a:t>
            </a:r>
            <a:endParaRPr b="0" i="0" sz="1400" u="none" cap="none" strike="noStrike">
              <a:solidFill>
                <a:schemeClr val="accent6"/>
              </a:solidFill>
              <a:latin typeface="Arial"/>
              <a:ea typeface="Arial"/>
              <a:cs typeface="Arial"/>
              <a:sym typeface="Arial"/>
            </a:endParaRPr>
          </a:p>
        </p:txBody>
      </p:sp>
      <p:pic>
        <p:nvPicPr>
          <p:cNvPr id="255" name="Google Shape;255;g38520d52077_0_75"/>
          <p:cNvPicPr preferRelativeResize="0"/>
          <p:nvPr/>
        </p:nvPicPr>
        <p:blipFill>
          <a:blip r:embed="rId3">
            <a:alphaModFix/>
          </a:blip>
          <a:stretch>
            <a:fillRect/>
          </a:stretch>
        </p:blipFill>
        <p:spPr>
          <a:xfrm>
            <a:off x="5104400" y="3722509"/>
            <a:ext cx="2166141" cy="2927116"/>
          </a:xfrm>
          <a:prstGeom prst="rect">
            <a:avLst/>
          </a:prstGeom>
          <a:noFill/>
          <a:ln>
            <a:noFill/>
          </a:ln>
        </p:spPr>
      </p:pic>
      <p:pic>
        <p:nvPicPr>
          <p:cNvPr id="256" name="Google Shape;256;g38520d52077_0_75"/>
          <p:cNvPicPr preferRelativeResize="0"/>
          <p:nvPr/>
        </p:nvPicPr>
        <p:blipFill>
          <a:blip r:embed="rId4">
            <a:alphaModFix/>
          </a:blip>
          <a:stretch>
            <a:fillRect/>
          </a:stretch>
        </p:blipFill>
        <p:spPr>
          <a:xfrm>
            <a:off x="189375" y="3607984"/>
            <a:ext cx="2117747" cy="2927116"/>
          </a:xfrm>
          <a:prstGeom prst="rect">
            <a:avLst/>
          </a:prstGeom>
          <a:noFill/>
          <a:ln>
            <a:noFill/>
          </a:ln>
        </p:spPr>
      </p:pic>
      <p:pic>
        <p:nvPicPr>
          <p:cNvPr id="257" name="Google Shape;257;g38520d52077_0_75"/>
          <p:cNvPicPr preferRelativeResize="0"/>
          <p:nvPr/>
        </p:nvPicPr>
        <p:blipFill>
          <a:blip r:embed="rId5">
            <a:alphaModFix/>
          </a:blip>
          <a:stretch>
            <a:fillRect/>
          </a:stretch>
        </p:blipFill>
        <p:spPr>
          <a:xfrm>
            <a:off x="9735250" y="3973955"/>
            <a:ext cx="2259302" cy="1877019"/>
          </a:xfrm>
          <a:prstGeom prst="rect">
            <a:avLst/>
          </a:prstGeom>
          <a:noFill/>
          <a:ln>
            <a:noFill/>
          </a:ln>
        </p:spPr>
      </p:pic>
      <p:pic>
        <p:nvPicPr>
          <p:cNvPr id="258" name="Google Shape;258;g38520d52077_0_75"/>
          <p:cNvPicPr preferRelativeResize="0"/>
          <p:nvPr/>
        </p:nvPicPr>
        <p:blipFill>
          <a:blip r:embed="rId6">
            <a:alphaModFix/>
          </a:blip>
          <a:stretch>
            <a:fillRect/>
          </a:stretch>
        </p:blipFill>
        <p:spPr>
          <a:xfrm>
            <a:off x="2597872" y="3393122"/>
            <a:ext cx="2354129" cy="2923709"/>
          </a:xfrm>
          <a:prstGeom prst="rect">
            <a:avLst/>
          </a:prstGeom>
          <a:noFill/>
          <a:ln>
            <a:noFill/>
          </a:ln>
        </p:spPr>
      </p:pic>
      <p:sp>
        <p:nvSpPr>
          <p:cNvPr id="259" name="Google Shape;259;g38520d52077_0_75"/>
          <p:cNvSpPr txBox="1"/>
          <p:nvPr/>
        </p:nvSpPr>
        <p:spPr>
          <a:xfrm>
            <a:off x="7244338" y="2893438"/>
            <a:ext cx="2551500" cy="461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2000">
                <a:solidFill>
                  <a:schemeClr val="accent6"/>
                </a:solidFill>
                <a:latin typeface="Roboto Medium"/>
                <a:ea typeface="Roboto Medium"/>
                <a:cs typeface="Roboto Medium"/>
                <a:sym typeface="Roboto Medium"/>
              </a:rPr>
              <a:t>Cell Plating</a:t>
            </a:r>
            <a:endParaRPr/>
          </a:p>
        </p:txBody>
      </p:sp>
      <p:grpSp>
        <p:nvGrpSpPr>
          <p:cNvPr id="260" name="Google Shape;260;g38520d52077_0_75"/>
          <p:cNvGrpSpPr/>
          <p:nvPr/>
        </p:nvGrpSpPr>
        <p:grpSpPr>
          <a:xfrm>
            <a:off x="7507762" y="3692175"/>
            <a:ext cx="1990274" cy="2325601"/>
            <a:chOff x="7422950" y="3722500"/>
            <a:chExt cx="1990274" cy="2325601"/>
          </a:xfrm>
        </p:grpSpPr>
        <p:pic>
          <p:nvPicPr>
            <p:cNvPr id="261" name="Google Shape;261;g38520d52077_0_75"/>
            <p:cNvPicPr preferRelativeResize="0"/>
            <p:nvPr/>
          </p:nvPicPr>
          <p:blipFill rotWithShape="1">
            <a:blip r:embed="rId7">
              <a:alphaModFix/>
            </a:blip>
            <a:srcRect b="53303" l="0" r="48482" t="0"/>
            <a:stretch/>
          </p:blipFill>
          <p:spPr>
            <a:xfrm>
              <a:off x="7422950" y="3722500"/>
              <a:ext cx="1590724" cy="1162801"/>
            </a:xfrm>
            <a:prstGeom prst="rect">
              <a:avLst/>
            </a:prstGeom>
            <a:noFill/>
            <a:ln>
              <a:noFill/>
            </a:ln>
          </p:spPr>
        </p:pic>
        <p:pic>
          <p:nvPicPr>
            <p:cNvPr id="262" name="Google Shape;262;g38520d52077_0_75"/>
            <p:cNvPicPr preferRelativeResize="0"/>
            <p:nvPr/>
          </p:nvPicPr>
          <p:blipFill rotWithShape="1">
            <a:blip r:embed="rId7">
              <a:alphaModFix/>
            </a:blip>
            <a:srcRect b="0" l="39419" r="0" t="48100"/>
            <a:stretch/>
          </p:blipFill>
          <p:spPr>
            <a:xfrm>
              <a:off x="7730199" y="4885300"/>
              <a:ext cx="1683025" cy="11628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8"/>
          <p:cNvSpPr txBox="1"/>
          <p:nvPr/>
        </p:nvSpPr>
        <p:spPr>
          <a:xfrm>
            <a:off x="927615" y="1108428"/>
            <a:ext cx="10342245" cy="89553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Result</a:t>
            </a:r>
            <a:r>
              <a:rPr b="1" lang="en-US" sz="3200">
                <a:solidFill>
                  <a:schemeClr val="dk2"/>
                </a:solidFill>
                <a:latin typeface="Roboto Medium"/>
                <a:ea typeface="Roboto Medium"/>
                <a:cs typeface="Roboto Medium"/>
                <a:sym typeface="Roboto Medium"/>
              </a:rPr>
              <a:t>s: Microscope Images</a:t>
            </a:r>
            <a:endParaRPr b="1" i="0" sz="3200" u="none" cap="none" strike="noStrike">
              <a:solidFill>
                <a:schemeClr val="dk2"/>
              </a:solidFill>
              <a:latin typeface="Roboto Medium"/>
              <a:ea typeface="Roboto Medium"/>
              <a:cs typeface="Roboto Medium"/>
              <a:sym typeface="Roboto Medium"/>
            </a:endParaRPr>
          </a:p>
        </p:txBody>
      </p:sp>
      <p:sp>
        <p:nvSpPr>
          <p:cNvPr id="269" name="Google Shape;269;p8"/>
          <p:cNvSpPr txBox="1"/>
          <p:nvPr/>
        </p:nvSpPr>
        <p:spPr>
          <a:xfrm>
            <a:off x="587376" y="549275"/>
            <a:ext cx="396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IV</a:t>
            </a:r>
            <a:endParaRPr b="0" i="0" sz="1400" u="none" cap="none" strike="noStrike">
              <a:solidFill>
                <a:schemeClr val="accent1"/>
              </a:solidFill>
              <a:latin typeface="Roboto"/>
              <a:ea typeface="Roboto"/>
              <a:cs typeface="Roboto"/>
              <a:sym typeface="Roboto"/>
            </a:endParaRPr>
          </a:p>
        </p:txBody>
      </p:sp>
      <p:sp>
        <p:nvSpPr>
          <p:cNvPr id="270" name="Google Shape;270;p8"/>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Results</a:t>
            </a:r>
            <a:endParaRPr b="0" i="0" sz="1400" u="none" cap="none" strike="noStrike">
              <a:solidFill>
                <a:schemeClr val="accent1"/>
              </a:solidFill>
              <a:latin typeface="Roboto"/>
              <a:ea typeface="Roboto"/>
              <a:cs typeface="Roboto"/>
              <a:sym typeface="Roboto"/>
            </a:endParaRPr>
          </a:p>
        </p:txBody>
      </p:sp>
      <p:pic>
        <p:nvPicPr>
          <p:cNvPr id="271" name="Google Shape;271;p8"/>
          <p:cNvPicPr preferRelativeResize="0"/>
          <p:nvPr/>
        </p:nvPicPr>
        <p:blipFill>
          <a:blip r:embed="rId3">
            <a:alphaModFix/>
          </a:blip>
          <a:stretch>
            <a:fillRect/>
          </a:stretch>
        </p:blipFill>
        <p:spPr>
          <a:xfrm>
            <a:off x="607988" y="2107500"/>
            <a:ext cx="5335875" cy="3793495"/>
          </a:xfrm>
          <a:prstGeom prst="rect">
            <a:avLst/>
          </a:prstGeom>
          <a:noFill/>
          <a:ln>
            <a:noFill/>
          </a:ln>
        </p:spPr>
      </p:pic>
      <p:pic>
        <p:nvPicPr>
          <p:cNvPr id="272" name="Google Shape;272;p8"/>
          <p:cNvPicPr preferRelativeResize="0"/>
          <p:nvPr/>
        </p:nvPicPr>
        <p:blipFill>
          <a:blip r:embed="rId4">
            <a:alphaModFix/>
          </a:blip>
          <a:stretch>
            <a:fillRect/>
          </a:stretch>
        </p:blipFill>
        <p:spPr>
          <a:xfrm>
            <a:off x="6248142" y="2107510"/>
            <a:ext cx="5335869" cy="37934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9"/>
          <p:cNvSpPr/>
          <p:nvPr/>
        </p:nvSpPr>
        <p:spPr>
          <a:xfrm>
            <a:off x="7659050" y="1954125"/>
            <a:ext cx="3833700" cy="4903800"/>
          </a:xfrm>
          <a:prstGeom prst="rect">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9"/>
          <p:cNvSpPr/>
          <p:nvPr/>
        </p:nvSpPr>
        <p:spPr>
          <a:xfrm>
            <a:off x="3856075" y="1954125"/>
            <a:ext cx="3833700" cy="49038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9"/>
          <p:cNvSpPr/>
          <p:nvPr/>
        </p:nvSpPr>
        <p:spPr>
          <a:xfrm>
            <a:off x="53100" y="1954125"/>
            <a:ext cx="3833700" cy="4903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9"/>
          <p:cNvSpPr txBox="1"/>
          <p:nvPr/>
        </p:nvSpPr>
        <p:spPr>
          <a:xfrm>
            <a:off x="927615" y="1108428"/>
            <a:ext cx="10342245" cy="89553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2"/>
              </a:buClr>
              <a:buSzPts val="3200"/>
              <a:buFont typeface="Roboto Medium"/>
              <a:buNone/>
            </a:pPr>
            <a:r>
              <a:rPr b="1" i="0" lang="en-US" sz="3200" u="none" cap="none" strike="noStrike">
                <a:solidFill>
                  <a:schemeClr val="dk2"/>
                </a:solidFill>
                <a:latin typeface="Roboto Medium"/>
                <a:ea typeface="Roboto Medium"/>
                <a:cs typeface="Roboto Medium"/>
                <a:sym typeface="Roboto Medium"/>
              </a:rPr>
              <a:t>Result</a:t>
            </a:r>
            <a:r>
              <a:rPr b="1" lang="en-US" sz="3200">
                <a:solidFill>
                  <a:schemeClr val="dk2"/>
                </a:solidFill>
                <a:latin typeface="Roboto Medium"/>
                <a:ea typeface="Roboto Medium"/>
                <a:cs typeface="Roboto Medium"/>
                <a:sym typeface="Roboto Medium"/>
              </a:rPr>
              <a:t>s: Flow Cytometry Analysis (</a:t>
            </a:r>
            <a:r>
              <a:rPr b="1" lang="en-US" sz="3200">
                <a:solidFill>
                  <a:schemeClr val="dk2"/>
                </a:solidFill>
                <a:latin typeface="Roboto Medium"/>
                <a:ea typeface="Roboto Medium"/>
                <a:cs typeface="Roboto Medium"/>
                <a:sym typeface="Roboto Medium"/>
              </a:rPr>
              <a:t>1/3</a:t>
            </a:r>
            <a:r>
              <a:rPr b="1" lang="en-US" sz="3200">
                <a:solidFill>
                  <a:schemeClr val="dk2"/>
                </a:solidFill>
                <a:latin typeface="Roboto Medium"/>
                <a:ea typeface="Roboto Medium"/>
                <a:cs typeface="Roboto Medium"/>
                <a:sym typeface="Roboto Medium"/>
              </a:rPr>
              <a:t>)</a:t>
            </a:r>
            <a:endParaRPr b="1" i="0" sz="3200" u="none" cap="none" strike="noStrike">
              <a:solidFill>
                <a:schemeClr val="dk2"/>
              </a:solidFill>
              <a:latin typeface="Roboto Medium"/>
              <a:ea typeface="Roboto Medium"/>
              <a:cs typeface="Roboto Medium"/>
              <a:sym typeface="Roboto Medium"/>
            </a:endParaRPr>
          </a:p>
        </p:txBody>
      </p:sp>
      <p:sp>
        <p:nvSpPr>
          <p:cNvPr id="282" name="Google Shape;282;p9"/>
          <p:cNvSpPr txBox="1"/>
          <p:nvPr/>
        </p:nvSpPr>
        <p:spPr>
          <a:xfrm>
            <a:off x="587376" y="549275"/>
            <a:ext cx="396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IV</a:t>
            </a:r>
            <a:endParaRPr b="0" i="0" sz="1400" u="none" cap="none" strike="noStrike">
              <a:solidFill>
                <a:schemeClr val="accent1"/>
              </a:solidFill>
              <a:latin typeface="Roboto"/>
              <a:ea typeface="Roboto"/>
              <a:cs typeface="Roboto"/>
              <a:sym typeface="Roboto"/>
            </a:endParaRPr>
          </a:p>
        </p:txBody>
      </p:sp>
      <p:sp>
        <p:nvSpPr>
          <p:cNvPr id="283" name="Google Shape;283;p9"/>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Results</a:t>
            </a:r>
            <a:endParaRPr b="0" i="0" sz="1400" u="none" cap="none" strike="noStrike">
              <a:solidFill>
                <a:schemeClr val="accent1"/>
              </a:solidFill>
              <a:latin typeface="Roboto"/>
              <a:ea typeface="Roboto"/>
              <a:cs typeface="Roboto"/>
              <a:sym typeface="Roboto"/>
            </a:endParaRPr>
          </a:p>
        </p:txBody>
      </p:sp>
      <p:pic>
        <p:nvPicPr>
          <p:cNvPr id="284" name="Google Shape;284;p9" title="Screenshot 2025-08-29 at 10.03.47 AM.png"/>
          <p:cNvPicPr preferRelativeResize="0"/>
          <p:nvPr/>
        </p:nvPicPr>
        <p:blipFill>
          <a:blip r:embed="rId3">
            <a:alphaModFix/>
          </a:blip>
          <a:stretch>
            <a:fillRect/>
          </a:stretch>
        </p:blipFill>
        <p:spPr>
          <a:xfrm>
            <a:off x="152400" y="2156360"/>
            <a:ext cx="3645418" cy="4549241"/>
          </a:xfrm>
          <a:prstGeom prst="rect">
            <a:avLst/>
          </a:prstGeom>
          <a:noFill/>
          <a:ln>
            <a:noFill/>
          </a:ln>
        </p:spPr>
      </p:pic>
      <p:pic>
        <p:nvPicPr>
          <p:cNvPr id="285" name="Google Shape;285;p9" title="Screenshot 2025-08-29 at 10.04.12 AM.png"/>
          <p:cNvPicPr preferRelativeResize="0"/>
          <p:nvPr/>
        </p:nvPicPr>
        <p:blipFill>
          <a:blip r:embed="rId4">
            <a:alphaModFix/>
          </a:blip>
          <a:stretch>
            <a:fillRect/>
          </a:stretch>
        </p:blipFill>
        <p:spPr>
          <a:xfrm>
            <a:off x="3950218" y="2156360"/>
            <a:ext cx="3645418" cy="4549241"/>
          </a:xfrm>
          <a:prstGeom prst="rect">
            <a:avLst/>
          </a:prstGeom>
          <a:noFill/>
          <a:ln>
            <a:noFill/>
          </a:ln>
        </p:spPr>
      </p:pic>
      <p:pic>
        <p:nvPicPr>
          <p:cNvPr id="286" name="Google Shape;286;p9" title="Screenshot 2025-08-29 at 10.05.11 AM.png"/>
          <p:cNvPicPr preferRelativeResize="0"/>
          <p:nvPr/>
        </p:nvPicPr>
        <p:blipFill>
          <a:blip r:embed="rId5">
            <a:alphaModFix/>
          </a:blip>
          <a:stretch>
            <a:fillRect/>
          </a:stretch>
        </p:blipFill>
        <p:spPr>
          <a:xfrm>
            <a:off x="7748037" y="2156360"/>
            <a:ext cx="3645418" cy="45492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0"/>
          <p:cNvSpPr txBox="1"/>
          <p:nvPr/>
        </p:nvSpPr>
        <p:spPr>
          <a:xfrm>
            <a:off x="927615" y="1108428"/>
            <a:ext cx="10342245" cy="89553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Results: Flow Cytometry Analysis (2/3)</a:t>
            </a:r>
            <a:endParaRPr b="1" sz="3200">
              <a:solidFill>
                <a:schemeClr val="dk2"/>
              </a:solidFill>
              <a:latin typeface="Roboto Medium"/>
              <a:ea typeface="Roboto Medium"/>
              <a:cs typeface="Roboto Medium"/>
              <a:sym typeface="Roboto Medium"/>
            </a:endParaRPr>
          </a:p>
        </p:txBody>
      </p:sp>
      <p:sp>
        <p:nvSpPr>
          <p:cNvPr id="293" name="Google Shape;293;p10"/>
          <p:cNvSpPr txBox="1"/>
          <p:nvPr/>
        </p:nvSpPr>
        <p:spPr>
          <a:xfrm>
            <a:off x="587376" y="549275"/>
            <a:ext cx="3961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IV</a:t>
            </a:r>
            <a:endParaRPr b="0" i="0" sz="1400" u="none" cap="none" strike="noStrike">
              <a:solidFill>
                <a:schemeClr val="accent1"/>
              </a:solidFill>
              <a:latin typeface="Roboto"/>
              <a:ea typeface="Roboto"/>
              <a:cs typeface="Roboto"/>
              <a:sym typeface="Roboto"/>
            </a:endParaRPr>
          </a:p>
        </p:txBody>
      </p:sp>
      <p:sp>
        <p:nvSpPr>
          <p:cNvPr id="294" name="Google Shape;294;p10"/>
          <p:cNvSpPr txBox="1"/>
          <p:nvPr/>
        </p:nvSpPr>
        <p:spPr>
          <a:xfrm>
            <a:off x="843555" y="549275"/>
            <a:ext cx="20166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Results</a:t>
            </a:r>
            <a:endParaRPr b="0" i="0" sz="1400" u="none" cap="none" strike="noStrike">
              <a:solidFill>
                <a:schemeClr val="accent1"/>
              </a:solidFill>
              <a:latin typeface="Roboto"/>
              <a:ea typeface="Roboto"/>
              <a:cs typeface="Roboto"/>
              <a:sym typeface="Roboto"/>
            </a:endParaRPr>
          </a:p>
        </p:txBody>
      </p:sp>
      <p:pic>
        <p:nvPicPr>
          <p:cNvPr id="295" name="Google Shape;295;p10" title="Screenshot 2025-08-29 at 10.15.46 AM.png"/>
          <p:cNvPicPr preferRelativeResize="0"/>
          <p:nvPr/>
        </p:nvPicPr>
        <p:blipFill>
          <a:blip r:embed="rId3">
            <a:alphaModFix/>
          </a:blip>
          <a:stretch>
            <a:fillRect/>
          </a:stretch>
        </p:blipFill>
        <p:spPr>
          <a:xfrm>
            <a:off x="1171850" y="2083110"/>
            <a:ext cx="4079253" cy="4549241"/>
          </a:xfrm>
          <a:prstGeom prst="rect">
            <a:avLst/>
          </a:prstGeom>
          <a:noFill/>
          <a:ln>
            <a:noFill/>
          </a:ln>
        </p:spPr>
      </p:pic>
      <p:pic>
        <p:nvPicPr>
          <p:cNvPr id="296" name="Google Shape;296;p10" title="Screenshot 2025-08-29 at 10.16.05 AM.png"/>
          <p:cNvPicPr preferRelativeResize="0"/>
          <p:nvPr/>
        </p:nvPicPr>
        <p:blipFill>
          <a:blip r:embed="rId4">
            <a:alphaModFix/>
          </a:blip>
          <a:stretch>
            <a:fillRect/>
          </a:stretch>
        </p:blipFill>
        <p:spPr>
          <a:xfrm>
            <a:off x="6848678" y="2083110"/>
            <a:ext cx="4079253" cy="4549241"/>
          </a:xfrm>
          <a:prstGeom prst="rect">
            <a:avLst/>
          </a:prstGeom>
          <a:noFill/>
          <a:ln>
            <a:noFill/>
          </a:ln>
        </p:spPr>
      </p:pic>
      <p:sp>
        <p:nvSpPr>
          <p:cNvPr id="297" name="Google Shape;297;p10"/>
          <p:cNvSpPr/>
          <p:nvPr/>
        </p:nvSpPr>
        <p:spPr>
          <a:xfrm>
            <a:off x="2463900" y="2633800"/>
            <a:ext cx="1805425" cy="1901025"/>
          </a:xfrm>
          <a:custGeom>
            <a:rect b="b" l="l" r="r" t="t"/>
            <a:pathLst>
              <a:path extrusionOk="0" h="76041" w="72217">
                <a:moveTo>
                  <a:pt x="0" y="76041"/>
                </a:moveTo>
                <a:cubicBezTo>
                  <a:pt x="5523" y="68890"/>
                  <a:pt x="21099" y="45810"/>
                  <a:pt x="33135" y="33136"/>
                </a:cubicBezTo>
                <a:cubicBezTo>
                  <a:pt x="45171" y="20463"/>
                  <a:pt x="65703" y="5523"/>
                  <a:pt x="72217" y="0"/>
                </a:cubicBezTo>
              </a:path>
            </a:pathLst>
          </a:custGeom>
          <a:noFill/>
          <a:ln cap="flat" cmpd="sng" w="38100">
            <a:solidFill>
              <a:schemeClr val="dk1"/>
            </a:solidFill>
            <a:prstDash val="dash"/>
            <a:round/>
            <a:headEnd len="med" w="med" type="none"/>
            <a:tailEnd len="med" w="med" type="none"/>
          </a:ln>
        </p:spPr>
      </p:sp>
      <p:sp>
        <p:nvSpPr>
          <p:cNvPr id="298" name="Google Shape;298;p10"/>
          <p:cNvSpPr/>
          <p:nvPr/>
        </p:nvSpPr>
        <p:spPr>
          <a:xfrm>
            <a:off x="8443075" y="2697525"/>
            <a:ext cx="1614275" cy="1932875"/>
          </a:xfrm>
          <a:custGeom>
            <a:rect b="b" l="l" r="r" t="t"/>
            <a:pathLst>
              <a:path extrusionOk="0" h="77315" w="64571">
                <a:moveTo>
                  <a:pt x="0" y="77315"/>
                </a:moveTo>
                <a:cubicBezTo>
                  <a:pt x="1133" y="72217"/>
                  <a:pt x="2549" y="55933"/>
                  <a:pt x="6797" y="46729"/>
                </a:cubicBezTo>
                <a:cubicBezTo>
                  <a:pt x="11045" y="37525"/>
                  <a:pt x="15859" y="29878"/>
                  <a:pt x="25488" y="22090"/>
                </a:cubicBezTo>
                <a:cubicBezTo>
                  <a:pt x="35117" y="14302"/>
                  <a:pt x="58057" y="3682"/>
                  <a:pt x="64571" y="0"/>
                </a:cubicBezTo>
              </a:path>
            </a:pathLst>
          </a:custGeom>
          <a:noFill/>
          <a:ln cap="flat" cmpd="sng" w="38100">
            <a:solidFill>
              <a:schemeClr val="dk1"/>
            </a:solidFill>
            <a:prstDash val="dash"/>
            <a:round/>
            <a:headEnd len="med" w="med" type="none"/>
            <a:tailEnd len="med" w="med" type="none"/>
          </a:ln>
        </p:spPr>
      </p:sp>
      <p:grpSp>
        <p:nvGrpSpPr>
          <p:cNvPr id="299" name="Google Shape;299;p10"/>
          <p:cNvGrpSpPr/>
          <p:nvPr/>
        </p:nvGrpSpPr>
        <p:grpSpPr>
          <a:xfrm>
            <a:off x="2361879" y="1855100"/>
            <a:ext cx="1699192" cy="228000"/>
            <a:chOff x="3494679" y="1855100"/>
            <a:chExt cx="1699192" cy="228000"/>
          </a:xfrm>
        </p:grpSpPr>
        <p:sp>
          <p:nvSpPr>
            <p:cNvPr id="300" name="Google Shape;300;p10"/>
            <p:cNvSpPr/>
            <p:nvPr/>
          </p:nvSpPr>
          <p:spPr>
            <a:xfrm>
              <a:off x="4061063" y="1855100"/>
              <a:ext cx="566400" cy="228000"/>
            </a:xfrm>
            <a:prstGeom prst="rect">
              <a:avLst/>
            </a:prstGeom>
            <a:solidFill>
              <a:srgbClr val="D9EAD3"/>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sp>
          <p:nvSpPr>
            <p:cNvPr id="301" name="Google Shape;301;p10"/>
            <p:cNvSpPr/>
            <p:nvPr/>
          </p:nvSpPr>
          <p:spPr>
            <a:xfrm>
              <a:off x="4627471" y="1855100"/>
              <a:ext cx="566400" cy="228000"/>
            </a:xfrm>
            <a:prstGeom prst="rect">
              <a:avLst/>
            </a:prstGeom>
            <a:solidFill>
              <a:srgbClr val="F4CCCC"/>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sp>
          <p:nvSpPr>
            <p:cNvPr id="302" name="Google Shape;302;p10"/>
            <p:cNvSpPr/>
            <p:nvPr/>
          </p:nvSpPr>
          <p:spPr>
            <a:xfrm>
              <a:off x="3494679" y="1855100"/>
              <a:ext cx="566400" cy="228000"/>
            </a:xfrm>
            <a:prstGeom prst="rect">
              <a:avLst/>
            </a:prstGeom>
            <a:solidFill>
              <a:srgbClr val="C9DAF8"/>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grpSp>
      <p:grpSp>
        <p:nvGrpSpPr>
          <p:cNvPr id="303" name="Google Shape;303;p10"/>
          <p:cNvGrpSpPr/>
          <p:nvPr/>
        </p:nvGrpSpPr>
        <p:grpSpPr>
          <a:xfrm>
            <a:off x="8259648" y="1918475"/>
            <a:ext cx="1704604" cy="228000"/>
            <a:chOff x="8319198" y="549275"/>
            <a:chExt cx="1704604" cy="228000"/>
          </a:xfrm>
        </p:grpSpPr>
        <p:sp>
          <p:nvSpPr>
            <p:cNvPr id="304" name="Google Shape;304;p10"/>
            <p:cNvSpPr/>
            <p:nvPr/>
          </p:nvSpPr>
          <p:spPr>
            <a:xfrm>
              <a:off x="9171488" y="549275"/>
              <a:ext cx="566400" cy="228000"/>
            </a:xfrm>
            <a:prstGeom prst="rect">
              <a:avLst/>
            </a:prstGeom>
            <a:solidFill>
              <a:srgbClr val="D9EAD3"/>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sp>
          <p:nvSpPr>
            <p:cNvPr id="305" name="Google Shape;305;p10"/>
            <p:cNvSpPr/>
            <p:nvPr/>
          </p:nvSpPr>
          <p:spPr>
            <a:xfrm>
              <a:off x="8319198" y="549275"/>
              <a:ext cx="852300" cy="228000"/>
            </a:xfrm>
            <a:prstGeom prst="rect">
              <a:avLst/>
            </a:prstGeom>
            <a:solidFill>
              <a:srgbClr val="C9DAF8"/>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sp>
          <p:nvSpPr>
            <p:cNvPr id="306" name="Google Shape;306;p10"/>
            <p:cNvSpPr/>
            <p:nvPr/>
          </p:nvSpPr>
          <p:spPr>
            <a:xfrm>
              <a:off x="9737902" y="549275"/>
              <a:ext cx="285900" cy="228000"/>
            </a:xfrm>
            <a:prstGeom prst="rect">
              <a:avLst/>
            </a:prstGeom>
            <a:solidFill>
              <a:srgbClr val="F4CCCC"/>
            </a:solidFill>
            <a:ln>
              <a:noFill/>
            </a:ln>
          </p:spPr>
          <p:txBody>
            <a:bodyPr anchorCtr="0" anchor="ctr" bIns="67725" lIns="67725" spcFirstLastPara="1" rIns="67725" wrap="square" tIns="67725">
              <a:noAutofit/>
            </a:bodyPr>
            <a:lstStyle/>
            <a:p>
              <a:pPr indent="0" lvl="0" marL="0" rtl="0" algn="ctr">
                <a:spcBef>
                  <a:spcPts val="0"/>
                </a:spcBef>
                <a:spcAft>
                  <a:spcPts val="0"/>
                </a:spcAft>
                <a:buNone/>
              </a:pPr>
              <a:r>
                <a:t/>
              </a:r>
              <a:endParaRPr sz="1036"/>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79b7910759_0_20"/>
          <p:cNvSpPr txBox="1"/>
          <p:nvPr/>
        </p:nvSpPr>
        <p:spPr>
          <a:xfrm>
            <a:off x="927615" y="1108428"/>
            <a:ext cx="10342200" cy="895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Results: Flow Cytometry </a:t>
            </a:r>
            <a:r>
              <a:rPr b="1" lang="en-US" sz="3200">
                <a:solidFill>
                  <a:schemeClr val="dk2"/>
                </a:solidFill>
                <a:latin typeface="Roboto Medium"/>
                <a:ea typeface="Roboto Medium"/>
                <a:cs typeface="Roboto Medium"/>
                <a:sym typeface="Roboto Medium"/>
              </a:rPr>
              <a:t>Promoter</a:t>
            </a:r>
            <a:r>
              <a:rPr b="1" lang="en-US" sz="3200">
                <a:solidFill>
                  <a:schemeClr val="dk2"/>
                </a:solidFill>
                <a:latin typeface="Roboto Medium"/>
                <a:ea typeface="Roboto Medium"/>
                <a:cs typeface="Roboto Medium"/>
                <a:sym typeface="Roboto Medium"/>
              </a:rPr>
              <a:t> Analysis (3/3)</a:t>
            </a:r>
            <a:endParaRPr b="1" sz="3200">
              <a:solidFill>
                <a:schemeClr val="dk2"/>
              </a:solidFill>
              <a:latin typeface="Roboto Medium"/>
              <a:ea typeface="Roboto Medium"/>
              <a:cs typeface="Roboto Medium"/>
              <a:sym typeface="Roboto Medium"/>
            </a:endParaRPr>
          </a:p>
        </p:txBody>
      </p:sp>
      <p:sp>
        <p:nvSpPr>
          <p:cNvPr id="313" name="Google Shape;313;g379b7910759_0_20"/>
          <p:cNvSpPr txBox="1"/>
          <p:nvPr/>
        </p:nvSpPr>
        <p:spPr>
          <a:xfrm>
            <a:off x="587376" y="549275"/>
            <a:ext cx="396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IV</a:t>
            </a:r>
            <a:endParaRPr b="0" i="0" sz="1400" u="none" cap="none" strike="noStrike">
              <a:solidFill>
                <a:schemeClr val="accent1"/>
              </a:solidFill>
              <a:latin typeface="Roboto"/>
              <a:ea typeface="Roboto"/>
              <a:cs typeface="Roboto"/>
              <a:sym typeface="Roboto"/>
            </a:endParaRPr>
          </a:p>
        </p:txBody>
      </p:sp>
      <p:sp>
        <p:nvSpPr>
          <p:cNvPr id="314" name="Google Shape;314;g379b7910759_0_20"/>
          <p:cNvSpPr txBox="1"/>
          <p:nvPr/>
        </p:nvSpPr>
        <p:spPr>
          <a:xfrm>
            <a:off x="843555" y="549275"/>
            <a:ext cx="2016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Results</a:t>
            </a:r>
            <a:endParaRPr b="0" i="0" sz="1400" u="none" cap="none" strike="noStrike">
              <a:solidFill>
                <a:schemeClr val="accent1"/>
              </a:solidFill>
              <a:latin typeface="Roboto"/>
              <a:ea typeface="Roboto"/>
              <a:cs typeface="Roboto"/>
              <a:sym typeface="Roboto"/>
            </a:endParaRPr>
          </a:p>
        </p:txBody>
      </p:sp>
      <p:pic>
        <p:nvPicPr>
          <p:cNvPr id="315" name="Google Shape;315;g379b7910759_0_20" title="Screenshot 2025-08-29 at 12.41.55 PM.png"/>
          <p:cNvPicPr preferRelativeResize="0"/>
          <p:nvPr/>
        </p:nvPicPr>
        <p:blipFill>
          <a:blip r:embed="rId3">
            <a:alphaModFix/>
          </a:blip>
          <a:stretch>
            <a:fillRect/>
          </a:stretch>
        </p:blipFill>
        <p:spPr>
          <a:xfrm>
            <a:off x="101588" y="2123050"/>
            <a:ext cx="3500524" cy="4249748"/>
          </a:xfrm>
          <a:prstGeom prst="rect">
            <a:avLst/>
          </a:prstGeom>
          <a:noFill/>
          <a:ln>
            <a:noFill/>
          </a:ln>
        </p:spPr>
      </p:pic>
      <p:pic>
        <p:nvPicPr>
          <p:cNvPr id="316" name="Google Shape;316;g379b7910759_0_20" title="Screenshot 2025-08-29 at 12.42.56 PM.png"/>
          <p:cNvPicPr preferRelativeResize="0"/>
          <p:nvPr/>
        </p:nvPicPr>
        <p:blipFill>
          <a:blip r:embed="rId4">
            <a:alphaModFix/>
          </a:blip>
          <a:stretch>
            <a:fillRect/>
          </a:stretch>
        </p:blipFill>
        <p:spPr>
          <a:xfrm>
            <a:off x="3955336" y="2156328"/>
            <a:ext cx="3791061" cy="4549273"/>
          </a:xfrm>
          <a:prstGeom prst="rect">
            <a:avLst/>
          </a:prstGeom>
          <a:noFill/>
          <a:ln>
            <a:noFill/>
          </a:ln>
        </p:spPr>
      </p:pic>
      <p:pic>
        <p:nvPicPr>
          <p:cNvPr id="317" name="Google Shape;317;g379b7910759_0_20" title="Screenshot 2025-08-29 at 12.43.20 PM.png"/>
          <p:cNvPicPr preferRelativeResize="0"/>
          <p:nvPr/>
        </p:nvPicPr>
        <p:blipFill>
          <a:blip r:embed="rId5">
            <a:alphaModFix/>
          </a:blip>
          <a:stretch>
            <a:fillRect/>
          </a:stretch>
        </p:blipFill>
        <p:spPr>
          <a:xfrm>
            <a:off x="8099622" y="2156328"/>
            <a:ext cx="3791061" cy="4549273"/>
          </a:xfrm>
          <a:prstGeom prst="rect">
            <a:avLst/>
          </a:prstGeom>
          <a:noFill/>
          <a:ln>
            <a:noFill/>
          </a:ln>
        </p:spPr>
      </p:pic>
      <p:sp>
        <p:nvSpPr>
          <p:cNvPr id="318" name="Google Shape;318;g379b7910759_0_20"/>
          <p:cNvSpPr/>
          <p:nvPr/>
        </p:nvSpPr>
        <p:spPr>
          <a:xfrm>
            <a:off x="3274225" y="2476500"/>
            <a:ext cx="396000" cy="253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g379b7910759_0_20"/>
          <p:cNvSpPr/>
          <p:nvPr/>
        </p:nvSpPr>
        <p:spPr>
          <a:xfrm>
            <a:off x="7350400" y="2545550"/>
            <a:ext cx="396000" cy="253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g379b7910759_0_20"/>
          <p:cNvSpPr/>
          <p:nvPr/>
        </p:nvSpPr>
        <p:spPr>
          <a:xfrm>
            <a:off x="11604625" y="2388375"/>
            <a:ext cx="396000" cy="253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12"/>
          <p:cNvSpPr txBox="1"/>
          <p:nvPr/>
        </p:nvSpPr>
        <p:spPr>
          <a:xfrm>
            <a:off x="927615" y="1108428"/>
            <a:ext cx="10342245" cy="89553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Conclusion</a:t>
            </a:r>
            <a:endParaRPr b="0" i="0" sz="1400" u="none" cap="none" strike="noStrike">
              <a:solidFill>
                <a:srgbClr val="000000"/>
              </a:solidFill>
              <a:latin typeface="Arial"/>
              <a:ea typeface="Arial"/>
              <a:cs typeface="Arial"/>
              <a:sym typeface="Arial"/>
            </a:endParaRPr>
          </a:p>
        </p:txBody>
      </p:sp>
      <p:sp>
        <p:nvSpPr>
          <p:cNvPr id="327" name="Google Shape;327;p12"/>
          <p:cNvSpPr txBox="1"/>
          <p:nvPr/>
        </p:nvSpPr>
        <p:spPr>
          <a:xfrm>
            <a:off x="587376" y="549275"/>
            <a:ext cx="340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V</a:t>
            </a:r>
            <a:endParaRPr b="0" i="0" sz="1400" u="none" cap="none" strike="noStrike">
              <a:solidFill>
                <a:schemeClr val="accent1"/>
              </a:solidFill>
              <a:latin typeface="Roboto"/>
              <a:ea typeface="Roboto"/>
              <a:cs typeface="Roboto"/>
              <a:sym typeface="Roboto"/>
            </a:endParaRPr>
          </a:p>
        </p:txBody>
      </p:sp>
      <p:sp>
        <p:nvSpPr>
          <p:cNvPr id="328" name="Google Shape;328;p12"/>
          <p:cNvSpPr txBox="1"/>
          <p:nvPr/>
        </p:nvSpPr>
        <p:spPr>
          <a:xfrm>
            <a:off x="843555" y="549275"/>
            <a:ext cx="21388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Conclusion &amp; Discussion</a:t>
            </a:r>
            <a:endParaRPr b="0" i="0" sz="1400" u="none" cap="none" strike="noStrike">
              <a:solidFill>
                <a:srgbClr val="000000"/>
              </a:solidFill>
              <a:latin typeface="Arial"/>
              <a:ea typeface="Arial"/>
              <a:cs typeface="Arial"/>
              <a:sym typeface="Arial"/>
            </a:endParaRPr>
          </a:p>
        </p:txBody>
      </p:sp>
      <p:sp>
        <p:nvSpPr>
          <p:cNvPr id="329" name="Google Shape;329;p12"/>
          <p:cNvSpPr txBox="1"/>
          <p:nvPr/>
        </p:nvSpPr>
        <p:spPr>
          <a:xfrm>
            <a:off x="927616" y="2106362"/>
            <a:ext cx="10342243" cy="4202363"/>
          </a:xfrm>
          <a:prstGeom prst="rect">
            <a:avLst/>
          </a:prstGeom>
          <a:noFill/>
          <a:ln>
            <a:noFill/>
          </a:ln>
        </p:spPr>
        <p:txBody>
          <a:bodyPr anchorCtr="0" anchor="t" bIns="45700" lIns="91425" spcFirstLastPara="1" rIns="91425" wrap="square" tIns="45700">
            <a:normAutofit/>
          </a:bodyPr>
          <a:lstStyle/>
          <a:p>
            <a:pPr indent="-355600" lvl="0" marL="4572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2 of our 5 </a:t>
            </a:r>
            <a:r>
              <a:rPr lang="en-US" sz="2000">
                <a:solidFill>
                  <a:schemeClr val="dk1"/>
                </a:solidFill>
                <a:latin typeface="Roboto"/>
                <a:ea typeface="Roboto"/>
                <a:cs typeface="Roboto"/>
                <a:sym typeface="Roboto"/>
              </a:rPr>
              <a:t>devices worked successfully; both of which were from our first cycle of production. </a:t>
            </a:r>
            <a:endParaRPr sz="2000">
              <a:solidFill>
                <a:schemeClr val="dk1"/>
              </a:solidFill>
              <a:latin typeface="Roboto"/>
              <a:ea typeface="Roboto"/>
              <a:cs typeface="Roboto"/>
              <a:sym typeface="Roboto"/>
            </a:endParaRPr>
          </a:p>
          <a:p>
            <a:pPr indent="0" lvl="0" marL="0" marR="0" rtl="0" algn="l">
              <a:lnSpc>
                <a:spcPct val="100000"/>
              </a:lnSpc>
              <a:spcBef>
                <a:spcPts val="2200"/>
              </a:spcBef>
              <a:spcAft>
                <a:spcPts val="0"/>
              </a:spcAft>
              <a:buNone/>
            </a:pPr>
            <a:r>
              <a:t/>
            </a:r>
            <a:endParaRPr sz="2000">
              <a:solidFill>
                <a:schemeClr val="dk1"/>
              </a:solidFill>
              <a:latin typeface="Roboto"/>
              <a:ea typeface="Roboto"/>
              <a:cs typeface="Roboto"/>
              <a:sym typeface="Roboto"/>
            </a:endParaRPr>
          </a:p>
          <a:p>
            <a:pPr indent="-355600" lvl="0" marL="4572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The second wave failed to work at the final stage, however the issue must have been one at a much earlier stage. (Golden Gate)</a:t>
            </a:r>
            <a:endParaRPr sz="2000">
              <a:solidFill>
                <a:schemeClr val="dk1"/>
              </a:solidFill>
              <a:latin typeface="Roboto"/>
              <a:ea typeface="Roboto"/>
              <a:cs typeface="Roboto"/>
              <a:sym typeface="Roboto"/>
            </a:endParaRPr>
          </a:p>
          <a:p>
            <a:pPr indent="0" lvl="0" marL="0" marR="0" rtl="0" algn="l">
              <a:lnSpc>
                <a:spcPct val="100000"/>
              </a:lnSpc>
              <a:spcBef>
                <a:spcPts val="2200"/>
              </a:spcBef>
              <a:spcAft>
                <a:spcPts val="0"/>
              </a:spcAft>
              <a:buNone/>
            </a:pPr>
            <a:r>
              <a:t/>
            </a:r>
            <a:endParaRPr sz="2000">
              <a:solidFill>
                <a:schemeClr val="dk1"/>
              </a:solidFill>
              <a:latin typeface="Roboto"/>
              <a:ea typeface="Roboto"/>
              <a:cs typeface="Roboto"/>
              <a:sym typeface="Roboto"/>
            </a:endParaRPr>
          </a:p>
          <a:p>
            <a:pPr indent="-355600" lvl="0" marL="4572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It’s difficult to make a direct comparison though the promoters were different (4x exposure, double dose, no positive control)</a:t>
            </a:r>
            <a:endParaRPr sz="20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p14"/>
          <p:cNvSpPr txBox="1"/>
          <p:nvPr>
            <p:ph type="title"/>
          </p:nvPr>
        </p:nvSpPr>
        <p:spPr>
          <a:xfrm>
            <a:off x="927617" y="1108428"/>
            <a:ext cx="4787382" cy="89553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Further Testing</a:t>
            </a:r>
            <a:endParaRPr/>
          </a:p>
        </p:txBody>
      </p:sp>
      <p:sp>
        <p:nvSpPr>
          <p:cNvPr id="336" name="Google Shape;336;p14"/>
          <p:cNvSpPr txBox="1"/>
          <p:nvPr>
            <p:ph idx="1" type="body"/>
          </p:nvPr>
        </p:nvSpPr>
        <p:spPr>
          <a:xfrm>
            <a:off x="927618" y="2106362"/>
            <a:ext cx="4787382" cy="420236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2200"/>
              </a:spcBef>
              <a:spcAft>
                <a:spcPts val="0"/>
              </a:spcAft>
              <a:buClr>
                <a:schemeClr val="dk1"/>
              </a:buClr>
              <a:buSzPts val="2000"/>
              <a:buChar char="•"/>
            </a:pPr>
            <a:r>
              <a:rPr lang="en-US" sz="2000">
                <a:latin typeface="Roboto"/>
                <a:ea typeface="Roboto"/>
                <a:cs typeface="Roboto"/>
                <a:sym typeface="Roboto"/>
              </a:rPr>
              <a:t>The device could be tested in other cells to identify their impact</a:t>
            </a:r>
            <a:endParaRPr sz="2000">
              <a:latin typeface="Roboto"/>
              <a:ea typeface="Roboto"/>
              <a:cs typeface="Roboto"/>
              <a:sym typeface="Roboto"/>
            </a:endParaRPr>
          </a:p>
          <a:p>
            <a:pPr indent="-228600" lvl="0" marL="228600" rtl="0" algn="l">
              <a:lnSpc>
                <a:spcPct val="100000"/>
              </a:lnSpc>
              <a:spcBef>
                <a:spcPts val="2200"/>
              </a:spcBef>
              <a:spcAft>
                <a:spcPts val="0"/>
              </a:spcAft>
              <a:buSzPts val="2000"/>
              <a:buFont typeface="Roboto"/>
              <a:buChar char="•"/>
            </a:pPr>
            <a:r>
              <a:rPr lang="en-US" sz="2000">
                <a:latin typeface="Roboto"/>
                <a:ea typeface="Roboto"/>
                <a:cs typeface="Roboto"/>
                <a:sym typeface="Roboto"/>
              </a:rPr>
              <a:t>Proper experimentation with positive &amp; negative controls could provide a better understanding of how different promoters act</a:t>
            </a:r>
            <a:endParaRPr sz="2000">
              <a:latin typeface="Roboto"/>
              <a:ea typeface="Roboto"/>
              <a:cs typeface="Roboto"/>
              <a:sym typeface="Roboto"/>
            </a:endParaRPr>
          </a:p>
          <a:p>
            <a:pPr indent="-228600" lvl="0" marL="228600" rtl="0" algn="l">
              <a:lnSpc>
                <a:spcPct val="100000"/>
              </a:lnSpc>
              <a:spcBef>
                <a:spcPts val="2200"/>
              </a:spcBef>
              <a:spcAft>
                <a:spcPts val="0"/>
              </a:spcAft>
              <a:buSzPts val="2000"/>
              <a:buFont typeface="Roboto"/>
              <a:buChar char="•"/>
            </a:pPr>
            <a:r>
              <a:rPr lang="en-US" sz="2000">
                <a:latin typeface="Roboto"/>
                <a:ea typeface="Roboto"/>
                <a:cs typeface="Roboto"/>
                <a:sym typeface="Roboto"/>
              </a:rPr>
              <a:t>A non-transient transfection method could be used to analyze how the cell takes in the new sequence. </a:t>
            </a:r>
            <a:endParaRPr sz="2000">
              <a:latin typeface="Roboto"/>
              <a:ea typeface="Roboto"/>
              <a:cs typeface="Roboto"/>
              <a:sym typeface="Roboto"/>
            </a:endParaRPr>
          </a:p>
        </p:txBody>
      </p:sp>
      <p:sp>
        <p:nvSpPr>
          <p:cNvPr id="337" name="Google Shape;337;p14"/>
          <p:cNvSpPr txBox="1"/>
          <p:nvPr/>
        </p:nvSpPr>
        <p:spPr>
          <a:xfrm>
            <a:off x="6476999" y="1108428"/>
            <a:ext cx="4787382" cy="89553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Potential Applications</a:t>
            </a:r>
            <a:endParaRPr b="0" i="0" sz="1400" u="none" cap="none" strike="noStrike">
              <a:solidFill>
                <a:srgbClr val="000000"/>
              </a:solidFill>
              <a:latin typeface="Arial"/>
              <a:ea typeface="Arial"/>
              <a:cs typeface="Arial"/>
              <a:sym typeface="Arial"/>
            </a:endParaRPr>
          </a:p>
        </p:txBody>
      </p:sp>
      <p:sp>
        <p:nvSpPr>
          <p:cNvPr id="338" name="Google Shape;338;p14"/>
          <p:cNvSpPr txBox="1"/>
          <p:nvPr/>
        </p:nvSpPr>
        <p:spPr>
          <a:xfrm>
            <a:off x="6477000" y="2106362"/>
            <a:ext cx="4787382" cy="42023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0000"/>
              </a:lnSpc>
              <a:spcBef>
                <a:spcPts val="2200"/>
              </a:spcBef>
              <a:spcAft>
                <a:spcPts val="0"/>
              </a:spcAft>
              <a:buClr>
                <a:schemeClr val="dk1"/>
              </a:buClr>
              <a:buSzPts val="2000"/>
              <a:buFont typeface="Arial"/>
              <a:buChar char="•"/>
            </a:pPr>
            <a:r>
              <a:rPr lang="en-US" sz="2000">
                <a:solidFill>
                  <a:schemeClr val="dk1"/>
                </a:solidFill>
                <a:latin typeface="Roboto"/>
                <a:ea typeface="Roboto"/>
                <a:cs typeface="Roboto"/>
                <a:sym typeface="Roboto"/>
              </a:rPr>
              <a:t>Understanding the strength of different promoters can aid in simulating genetic circuits</a:t>
            </a:r>
            <a:endParaRPr sz="2000">
              <a:solidFill>
                <a:schemeClr val="dk1"/>
              </a:solidFill>
              <a:latin typeface="Roboto"/>
              <a:ea typeface="Roboto"/>
              <a:cs typeface="Roboto"/>
              <a:sym typeface="Roboto"/>
            </a:endParaRPr>
          </a:p>
          <a:p>
            <a:pPr indent="-228600" lvl="0" marL="2286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A tag that correctly identifies the cell’s organelles (eg. mitochondria) could be used to classify cell type (eg. muscle vs fat cell)</a:t>
            </a:r>
            <a:endParaRPr sz="2000">
              <a:solidFill>
                <a:schemeClr val="dk1"/>
              </a:solidFill>
              <a:latin typeface="Roboto"/>
              <a:ea typeface="Roboto"/>
              <a:cs typeface="Roboto"/>
              <a:sym typeface="Roboto"/>
            </a:endParaRPr>
          </a:p>
          <a:p>
            <a:pPr indent="-228600" lvl="0" marL="228600" marR="0" rtl="0" algn="l">
              <a:lnSpc>
                <a:spcPct val="100000"/>
              </a:lnSpc>
              <a:spcBef>
                <a:spcPts val="22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It could be used to understand how organelles respond to </a:t>
            </a:r>
            <a:r>
              <a:rPr lang="en-US" sz="2000">
                <a:solidFill>
                  <a:schemeClr val="dk1"/>
                </a:solidFill>
                <a:latin typeface="Roboto"/>
                <a:ea typeface="Roboto"/>
                <a:cs typeface="Roboto"/>
                <a:sym typeface="Roboto"/>
              </a:rPr>
              <a:t>environmental</a:t>
            </a:r>
            <a:r>
              <a:rPr lang="en-US" sz="2000">
                <a:solidFill>
                  <a:schemeClr val="dk1"/>
                </a:solidFill>
                <a:latin typeface="Roboto"/>
                <a:ea typeface="Roboto"/>
                <a:cs typeface="Roboto"/>
                <a:sym typeface="Roboto"/>
              </a:rPr>
              <a:t> stimuli</a:t>
            </a:r>
            <a:endParaRPr sz="2000">
              <a:solidFill>
                <a:schemeClr val="dk1"/>
              </a:solidFill>
              <a:latin typeface="Roboto"/>
              <a:ea typeface="Roboto"/>
              <a:cs typeface="Roboto"/>
              <a:sym typeface="Roboto"/>
            </a:endParaRPr>
          </a:p>
        </p:txBody>
      </p:sp>
      <p:sp>
        <p:nvSpPr>
          <p:cNvPr id="339" name="Google Shape;339;p14"/>
          <p:cNvSpPr txBox="1"/>
          <p:nvPr/>
        </p:nvSpPr>
        <p:spPr>
          <a:xfrm>
            <a:off x="587376" y="549275"/>
            <a:ext cx="34024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400"/>
              <a:buFont typeface="Roboto"/>
              <a:buNone/>
            </a:pPr>
            <a:r>
              <a:rPr b="0" i="0" lang="en-US" sz="1400" u="none" cap="none" strike="noStrike">
                <a:solidFill>
                  <a:schemeClr val="accent1"/>
                </a:solidFill>
                <a:latin typeface="Roboto"/>
                <a:ea typeface="Roboto"/>
                <a:cs typeface="Roboto"/>
                <a:sym typeface="Roboto"/>
              </a:rPr>
              <a:t>V</a:t>
            </a:r>
            <a:endParaRPr b="0" i="0" sz="1400" u="none" cap="none" strike="noStrike">
              <a:solidFill>
                <a:schemeClr val="accent1"/>
              </a:solidFill>
              <a:latin typeface="Roboto"/>
              <a:ea typeface="Roboto"/>
              <a:cs typeface="Roboto"/>
              <a:sym typeface="Roboto"/>
            </a:endParaRPr>
          </a:p>
        </p:txBody>
      </p:sp>
      <p:sp>
        <p:nvSpPr>
          <p:cNvPr id="340" name="Google Shape;340;p14"/>
          <p:cNvSpPr txBox="1"/>
          <p:nvPr/>
        </p:nvSpPr>
        <p:spPr>
          <a:xfrm>
            <a:off x="843555" y="549275"/>
            <a:ext cx="24046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1"/>
                </a:solidFill>
                <a:latin typeface="Roboto"/>
                <a:ea typeface="Roboto"/>
                <a:cs typeface="Roboto"/>
                <a:sym typeface="Roboto"/>
              </a:rPr>
              <a:t>Conclusion &amp; Discussion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sp>
        <p:nvSpPr>
          <p:cNvPr id="346" name="Google Shape;346;g38541c39ab1_0_7"/>
          <p:cNvSpPr txBox="1"/>
          <p:nvPr>
            <p:ph type="title"/>
          </p:nvPr>
        </p:nvSpPr>
        <p:spPr>
          <a:xfrm>
            <a:off x="587400" y="3115053"/>
            <a:ext cx="11017200" cy="627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2"/>
              </a:buClr>
              <a:buSzPts val="3200"/>
              <a:buFont typeface="Roboto Medium"/>
              <a:buNone/>
            </a:pPr>
            <a:r>
              <a:rPr b="1" lang="en-US" sz="10000">
                <a:solidFill>
                  <a:schemeClr val="dk2"/>
                </a:solidFill>
                <a:latin typeface="Roboto Medium"/>
                <a:ea typeface="Roboto Medium"/>
                <a:cs typeface="Roboto Medium"/>
                <a:sym typeface="Roboto Medium"/>
              </a:rPr>
              <a:t>Thank you</a:t>
            </a:r>
            <a:endParaRPr sz="10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 name="Shape 351"/>
        <p:cNvGrpSpPr/>
        <p:nvPr/>
      </p:nvGrpSpPr>
      <p:grpSpPr>
        <a:xfrm>
          <a:off x="0" y="0"/>
          <a:ext cx="0" cy="0"/>
          <a:chOff x="0" y="0"/>
          <a:chExt cx="0" cy="0"/>
        </a:xfrm>
      </p:grpSpPr>
      <p:sp>
        <p:nvSpPr>
          <p:cNvPr id="352" name="Google Shape;352;p15"/>
          <p:cNvSpPr txBox="1"/>
          <p:nvPr>
            <p:ph type="title"/>
          </p:nvPr>
        </p:nvSpPr>
        <p:spPr>
          <a:xfrm>
            <a:off x="587375" y="959453"/>
            <a:ext cx="11017250" cy="62790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2"/>
              </a:buClr>
              <a:buSzPts val="3200"/>
              <a:buFont typeface="Roboto Medium"/>
              <a:buNone/>
            </a:pPr>
            <a:r>
              <a:rPr b="1" lang="en-US" sz="3200">
                <a:solidFill>
                  <a:schemeClr val="dk2"/>
                </a:solidFill>
                <a:latin typeface="Roboto Medium"/>
                <a:ea typeface="Roboto Medium"/>
                <a:cs typeface="Roboto Medium"/>
                <a:sym typeface="Roboto Medium"/>
              </a:rPr>
              <a:t>References</a:t>
            </a:r>
            <a:endParaRPr/>
          </a:p>
        </p:txBody>
      </p:sp>
      <p:sp>
        <p:nvSpPr>
          <p:cNvPr id="353" name="Google Shape;353;p15"/>
          <p:cNvSpPr txBox="1"/>
          <p:nvPr/>
        </p:nvSpPr>
        <p:spPr>
          <a:xfrm>
            <a:off x="927625" y="1988293"/>
            <a:ext cx="10385400" cy="1866900"/>
          </a:xfrm>
          <a:prstGeom prst="rect">
            <a:avLst/>
          </a:prstGeom>
          <a:noFill/>
          <a:ln>
            <a:noFill/>
          </a:ln>
        </p:spPr>
        <p:txBody>
          <a:bodyPr anchorCtr="0" anchor="t" bIns="45700" lIns="91425" spcFirstLastPara="1" rIns="91425" wrap="square" tIns="45700">
            <a:normAutofit/>
          </a:bodyPr>
          <a:lstStyle/>
          <a:p>
            <a:pPr indent="-317500" lvl="0" marL="457200" marR="0" rtl="0" algn="l">
              <a:lnSpc>
                <a:spcPct val="90000"/>
              </a:lnSpc>
              <a:spcBef>
                <a:spcPts val="1000"/>
              </a:spcBef>
              <a:spcAft>
                <a:spcPts val="0"/>
              </a:spcAft>
              <a:buSzPts val="1400"/>
              <a:buFont typeface="Roboto"/>
              <a:buAutoNum type="arabicPeriod"/>
            </a:pPr>
            <a:r>
              <a:rPr lang="en-US">
                <a:latin typeface="Roboto"/>
                <a:ea typeface="Roboto"/>
                <a:cs typeface="Roboto"/>
                <a:sym typeface="Roboto"/>
              </a:rPr>
              <a:t>J. Lin, R. Luo, and L. Pinello, “EPInformer: A Scalable Deep Learning Framework for Gene Expression Prediction by Integrating Promoter-enhancer Sequences with Multimodal Epigenomic Data,” bioRxiv, Aug. 2024, doi: </a:t>
            </a:r>
            <a:r>
              <a:rPr lang="en-US" u="sng">
                <a:solidFill>
                  <a:schemeClr val="hlink"/>
                </a:solidFill>
                <a:latin typeface="Roboto"/>
                <a:ea typeface="Roboto"/>
                <a:cs typeface="Roboto"/>
                <a:sym typeface="Roboto"/>
                <a:hlinkClick r:id="rId3"/>
              </a:rPr>
              <a:t>https://doi.org/10.1101/2024.08.01.606099</a:t>
            </a:r>
            <a:r>
              <a:rPr lang="en-US">
                <a:latin typeface="Roboto"/>
                <a:ea typeface="Roboto"/>
                <a:cs typeface="Roboto"/>
                <a:sym typeface="Roboto"/>
              </a:rPr>
              <a:t>.</a:t>
            </a:r>
            <a:endParaRPr>
              <a:latin typeface="Roboto"/>
              <a:ea typeface="Roboto"/>
              <a:cs typeface="Roboto"/>
              <a:sym typeface="Roboto"/>
            </a:endParaRPr>
          </a:p>
          <a:p>
            <a:pPr indent="0" lvl="0" marL="0" marR="0" rtl="0" algn="l">
              <a:lnSpc>
                <a:spcPct val="90000"/>
              </a:lnSpc>
              <a:spcBef>
                <a:spcPts val="1000"/>
              </a:spcBef>
              <a:spcAft>
                <a:spcPts val="0"/>
              </a:spcAft>
              <a:buNone/>
            </a:pPr>
            <a:r>
              <a:t/>
            </a:r>
            <a:endParaRPr>
              <a:latin typeface="Roboto"/>
              <a:ea typeface="Roboto"/>
              <a:cs typeface="Roboto"/>
              <a:sym typeface="Roboto"/>
            </a:endParaRPr>
          </a:p>
          <a:p>
            <a:pPr indent="-317500" lvl="0" marL="457200" marR="0" rtl="0" algn="l">
              <a:lnSpc>
                <a:spcPct val="90000"/>
              </a:lnSpc>
              <a:spcBef>
                <a:spcPts val="1000"/>
              </a:spcBef>
              <a:spcAft>
                <a:spcPts val="0"/>
              </a:spcAft>
              <a:buSzPts val="1400"/>
              <a:buFont typeface="Roboto"/>
              <a:buAutoNum type="arabicPeriod"/>
            </a:pPr>
            <a:r>
              <a:rPr lang="en-US">
                <a:latin typeface="Roboto"/>
                <a:ea typeface="Roboto"/>
                <a:cs typeface="Roboto"/>
                <a:sym typeface="Roboto"/>
              </a:rPr>
              <a:t>S. Seal et al., “Cell Painting: a decade of discovery and innovation in cellular imaging,” Nature Methods, vol. 22, pp. 254–268, Dec. 2024, doi: </a:t>
            </a:r>
            <a:r>
              <a:rPr lang="en-US" u="sng">
                <a:solidFill>
                  <a:schemeClr val="hlink"/>
                </a:solidFill>
                <a:latin typeface="Roboto"/>
                <a:ea typeface="Roboto"/>
                <a:cs typeface="Roboto"/>
                <a:sym typeface="Roboto"/>
                <a:hlinkClick r:id="rId4"/>
              </a:rPr>
              <a:t>https://doi.org/10.1038/s41592-024-02528-8</a:t>
            </a:r>
            <a:r>
              <a:rPr lang="en-US">
                <a:latin typeface="Roboto"/>
                <a:ea typeface="Roboto"/>
                <a:cs typeface="Roboto"/>
                <a:sym typeface="Roboto"/>
              </a:rPr>
              <a:t>.</a:t>
            </a:r>
            <a:endParaRPr>
              <a:latin typeface="Roboto"/>
              <a:ea typeface="Roboto"/>
              <a:cs typeface="Roboto"/>
              <a:sym typeface="Roboto"/>
            </a:endParaRPr>
          </a:p>
          <a:p>
            <a:pPr indent="0" lvl="0" marL="0" marR="0" rtl="0" algn="l">
              <a:lnSpc>
                <a:spcPct val="90000"/>
              </a:lnSpc>
              <a:spcBef>
                <a:spcPts val="1000"/>
              </a:spcBef>
              <a:spcAft>
                <a:spcPts val="0"/>
              </a:spcAft>
              <a:buClr>
                <a:schemeClr val="dk1"/>
              </a:buClr>
              <a:buSzPts val="1400"/>
              <a:buFont typeface="Arial"/>
              <a:buNone/>
            </a:pPr>
            <a:r>
              <a:t/>
            </a:r>
            <a:endParaRPr>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 name="Shape 35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4">
      <a:dk1>
        <a:srgbClr val="000814"/>
      </a:dk1>
      <a:lt1>
        <a:srgbClr val="FFFFFF"/>
      </a:lt1>
      <a:dk2>
        <a:srgbClr val="003466"/>
      </a:dk2>
      <a:lt2>
        <a:srgbClr val="F2F6F9"/>
      </a:lt2>
      <a:accent1>
        <a:srgbClr val="6999B9"/>
      </a:accent1>
      <a:accent2>
        <a:srgbClr val="CAEEFB"/>
      </a:accent2>
      <a:accent3>
        <a:srgbClr val="003466"/>
      </a:accent3>
      <a:accent4>
        <a:srgbClr val="051218"/>
      </a:accent4>
      <a:accent5>
        <a:srgbClr val="FFC300"/>
      </a:accent5>
      <a:accent6>
        <a:srgbClr val="4EA72E"/>
      </a:accent6>
      <a:hlink>
        <a:srgbClr val="467886"/>
      </a:hlink>
      <a:folHlink>
        <a:srgbClr val="6999B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2024-05-22T15:10:34Z</dcterms:created>
  <dc:creator>Eunice Huang</dc:creator>
</cp:coreProperties>
</file>